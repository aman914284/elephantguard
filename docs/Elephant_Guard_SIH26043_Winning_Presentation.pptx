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Respected jury members, every year over 500 human lives and 100 endangered Asian elephants are tragically lost in India due to human-wildlife conflict. Today, we present Elephant Guard (SEEMS-AI): a breakthrough ecosystem combining sub-40ms on-device Edge AI, zero-internet peer-to-peer mesh siren alerts, and a collaborative governance platform that directly solves SIH Problem Statement SIH26043.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do existing smart camera solutions fail? Because they rely on the cloud. When a herd approaches a highway at midnight in a remote forest with no mobile network, cloud AI is dead. Forest rangers cannot rely on SMS. We need autonomous, on-device intelligence right at the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Unlike expensive drones costing 10 Lakhs or cloud cameras that fail when internet drops, Elephant Guard runs 100% locally on standard low-cost hardware and smartphones, propagating alerts within 10 milliseconds over local mesh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architecture operates in dual mode: it functions 100% autonomously offline in deep jungles, and automatically synchronizes with the central command cloud the second a ranger moves into cellular or Wi-Fi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3-of-5 temporal consistency queue is our key algorithmic breakthrough: passing cattle, tree shadows, or moving vehicles only register in a single frame and are immediately discarded, ensuring zero false alarms in the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don't just detect elephants; we compute dynamic risk levels based on herd count, road category, and nocturnal lighting factors, and enforce two distinct perimeter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an elephant is spotted, a UDP packet propagates in 8 milliseconds across local Wi-Fi nodes, activating village sirens immediately without waiting for central cloud servers.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Web Admin Dashboard is the official command center for Forest Officers to verify threats, deploy QRT teams, and track corridor safety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Elephant Guard fulfills the entire SIH26043 lifecycle: recurring corridor conflict hotspots are converted into open academic challenges, allowing IITs, NITs, and industry partners to build and test solutions.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enforce strict enterprise security: zero plain-text passwords, signed JWT tokens, and parameterized SQL queries to prevent injection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Traditional thermal radar systems cost 10 Lakhs. Our autonomous solar edge node costs only ₹9,500 using standard commodity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Elephant Guard is architected to scale across all 150+ elephant corridors in India without requiring changes to the software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funding model combines statutory government wildlife conservation funds, mandatory infrastructure CSR, and academic partnerships for continuous maintenance.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empirical benchmarks prove that edge AI is fast, lightweight, and robust enough for harsh real-world jungle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you, respected jury members. We are now open for technical questions and live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621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9966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SMART INDIA HACKATHON 2026 • PROBLEM STATEMENT ID: SIH26043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966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ELEPHANT GUARD (SEEMS-AI)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146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t>A Unified Digital Platform for Sub-40ms Edge AI Wildlife Detection, Zero-Internet Mesh Siren Alerts, and Multi-Stakeholder Societal Problem Solving Matrix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383280"/>
            <a:ext cx="315468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74720"/>
            <a:ext cx="2880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THEME &amp; DOMAIN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AI, IoT, Wildlife Conservation</a:t>
            </a:r>
            <a:br/>
            <a:r>
              <a:t>&amp; Smart Governance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3383280"/>
            <a:ext cx="315468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474720"/>
            <a:ext cx="2880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TARGET CORRIDORS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Dalma Wildlife Sanctuary (NH-33)</a:t>
            </a:r>
            <a:br/>
            <a:r>
              <a:t>&amp; Rajaji Corridor (Railways)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383280"/>
            <a:ext cx="315468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474720"/>
            <a:ext cx="2880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KEY INNOVATION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Edge Vision + P2P UDP Mesh</a:t>
            </a:r>
            <a:br/>
            <a:r>
              <a:t>+ SIH Open Collaboration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Team: [Your Team Name]  |  Presented by: Frontend &amp; Architecture Lead  |  «Protect Wildlife. Protect Lives. Solve Societal Challenges Collaboratively.»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The Crisis &amp; Ground Reality: Human-Elephant Conflict in India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2 of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290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500+ HUMAN DEATHS / YR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Loss of lives in forest fringe villages, agricultural fields, and national highway crossings.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55448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100+ ELEPHANT LOSSES / YR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Endangered Asian elephants killed by train hits, highway collisions, electrocution, and retaliatory poaching.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17320"/>
            <a:ext cx="34290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55448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₹500+ CRORE LOSS / YR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Severe crop depredation, property destruction, and direct economic devastation of marginal farmers.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342900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9184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4E3B"/>
                </a:solidFill>
              </a:defRPr>
            </a:pPr>
            <a:r>
              <a:t>1. Zero Cellular Internet in Forest Belts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Corridors and fringe sanctuaries have zero 4G/5G mobile tower coverage. Standard cloud-based AI systems fail completely.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154680"/>
            <a:ext cx="342900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29184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4E3B"/>
                </a:solidFill>
              </a:defRPr>
            </a:pPr>
            <a:r>
              <a:t>2. High Latency of Manual Patrols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Traditional manual reporting and phone relays take 45–90 minutes to notify checkpoints, leading to fatal delays.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154680"/>
            <a:ext cx="342900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329184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4E3B"/>
                </a:solidFill>
              </a:defRPr>
            </a:pPr>
            <a:r>
              <a:t>3. Institutional Disconnect (The SIH Challenge)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Academic research from IITs/NITs remains stuck in laboratory papers because Forest Departments lack a platform to crowdsource real-world problems.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03520"/>
            <a:ext cx="10728655" cy="9601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64E3B"/>
                </a:solidFill>
              </a:defRPr>
            </a:pPr>
            <a:r>
              <a:t>🎯 REAL-WORLD CASE STUDY: Dalma Wildlife Sanctuary NH-33 Corridor (Jharkhand)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Elephants regularly migrate across National Highway NH-33 at midnight. Due to blind turns and zero mobile coverage, high-speed vehicle collisions occur frequently. Our system solves this with zero-internet edge detection.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Competitive Benchmarking: Existing Systems vs ELEPHANT GUARD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3 of 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011680"/>
                <a:gridCol w="2011680"/>
                <a:gridCol w="2499055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Key Parameter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Tripwires / Electric Fences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High-Cost Thermal Drones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Cloud CCTV AI Systems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ELEPHANT GUARD (SEEMS-AI)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334155"/>
                          </a:solidFill>
                        </a:defRPr>
                      </a:pPr>
                      <a:r>
                        <a:t>Offline / Zero-Internet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Passive only (no alerts)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No (Requires RC Link)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NO (Fails without 4G/5G)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64E3B"/>
                          </a:solidFill>
                        </a:defRPr>
                      </a:pPr>
                      <a:r>
                        <a:t>YES (100% On-Device TFLite)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334155"/>
                          </a:solidFill>
                        </a:defRPr>
                      </a:pPr>
                      <a:r>
                        <a:t>Alert Propagation Speed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Localized to wire only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Slow (Pilot manual relay)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High Latency (15–30s)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64E3B"/>
                          </a:solidFill>
                        </a:defRPr>
                      </a:pPr>
                      <a:r>
                        <a:t>Sub-10ms (Peer-to-Peer UDP Mesh)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334155"/>
                          </a:solidFill>
                        </a:defRPr>
                      </a:pPr>
                      <a:r>
                        <a:t>Cost per Corridor Node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High upkeep (₹40k/km)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₹4,00,000 – ₹12,00,000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High Cloud &amp; Server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64E3B"/>
                          </a:solidFill>
                        </a:defRPr>
                      </a:pPr>
                      <a:r>
                        <a:t>₹9,500 – ₹12,000 (Low-Cost / Mobile)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334155"/>
                          </a:solidFill>
                        </a:defRPr>
                      </a:pPr>
                      <a:r>
                        <a:t>False Alarm Mitigation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Severe (Cattle/Wind/Rain)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Medium (Thermal Blobs)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Medium (Lighting changes)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64E3B"/>
                          </a:solidFill>
                        </a:defRPr>
                      </a:pPr>
                      <a:r>
                        <a:t>Extremely Low (3-of-5 Temporal Filter)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334155"/>
                          </a:solidFill>
                        </a:defRPr>
                      </a:pPr>
                      <a:r>
                        <a:t>Societal Problem Solving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64E3B"/>
                          </a:solidFill>
                        </a:defRPr>
                      </a:pPr>
                      <a:r>
                        <a:t>Direct SIH26043 University Challenge Hub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66928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4E3B"/>
                </a:solidFill>
              </a:defRPr>
            </a:pPr>
            <a:r>
              <a:t>💡 SUMMARY: Elephant Guard replaces ₹10 Lakh military hardware with ₹9,500 smart edge nodes while eliminating cloud dependency.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Proposed Solution: Unified 3-Tier Ecosystem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4 of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3154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64E3B"/>
                </a:solidFill>
              </a:defRPr>
            </a:pPr>
            <a:r>
              <a:t>TIER 1: EDGE MOBILE PATROL APP</a:t>
            </a:r>
          </a:p>
          <a:p>
            <a:pPr>
              <a:spcAft>
                <a:spcPts val="1000"/>
              </a:spcAft>
              <a:defRPr sz="850" b="1">
                <a:solidFill>
                  <a:srgbClr val="64748B"/>
                </a:solidFill>
              </a:defRPr>
            </a:pPr>
            <a:r>
              <a:t>Kotlin 2.0 • Android Jetpack • TFLite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Runs on ranger smartphones or stationary checkpoint poles.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Sub-40ms on-device elephant detection via TensorFlow Lite.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Computes herd count, bounding boxes, and multi-factor risk score.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Operates 100% offline with zero cellular data required.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154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284C7"/>
                </a:solidFill>
              </a:defRPr>
            </a:pPr>
            <a:r>
              <a:t>TIER 2: ZERO-INTERNET P2P UDP MESH</a:t>
            </a:r>
          </a:p>
          <a:p>
            <a:pPr>
              <a:spcAft>
                <a:spcPts val="1000"/>
              </a:spcAft>
              <a:defRPr sz="850" b="1">
                <a:solidFill>
                  <a:srgbClr val="64748B"/>
                </a:solidFill>
              </a:defRPr>
            </a:pPr>
            <a:r>
              <a:t>802.11 Wi-Fi Direct • UDP Port 8888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Propagates sighting packets in sub-10ms across 5km radius.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Instantly triggers acoustic sirens (800Hz-1600Hz) &amp; LED displays.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Survives complete blackout of cellular telecom networks.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Asynchronously syncs to cloud when internet is available.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600200"/>
            <a:ext cx="3154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D97706"/>
                </a:solidFill>
              </a:defRPr>
            </a:pPr>
            <a:r>
              <a:t>TIER 3: FOREST DEPT WEB ADMIN &amp; SIH HUB</a:t>
            </a:r>
          </a:p>
          <a:p>
            <a:pPr>
              <a:spcAft>
                <a:spcPts val="1000"/>
              </a:spcAft>
              <a:defRPr sz="850" b="1">
                <a:solidFill>
                  <a:srgbClr val="64748B"/>
                </a:solidFill>
              </a:defRPr>
            </a:pPr>
            <a:r>
              <a:t>React 18 + TS + Vite + FastAPI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Central command center for Forest Officers &amp; Dispatchers.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Interactive Leaflet GIS map with live corridor sightings.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Quick Response Team (QRT) dispatch &amp; incident verification.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• SIH26043 Open Challenge Hub connecting with IITs &amp; NITs.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Deep Learning Vision Pipeline: How AI Detects Elephants on the 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5 of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Step 1: Frame Capture &amp; Scaling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Android CameraX streams YUV frames at 10 FPS. Scaled to 320x320 pixels for optimal edge throughput.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55448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Step 2: Tensor Normalization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Raw RGB values [0, 255] are divided by 255.0 to produce normalized float tensor [1, 320, 320, 3].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4E3B"/>
                </a:solidFill>
              </a:defRPr>
            </a:pPr>
            <a:r>
              <a:t>Step 3: BiFPN Neural Inference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Google EfficientDet-Lite0 extracts ear, trunk, and body geometry via Bi-directional Feature Pyramids.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1752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10896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4E3B"/>
                </a:solidFill>
              </a:defRPr>
            </a:pPr>
            <a:r>
              <a:t>Step 4: Classification &amp; Scoring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Matches COCO Class 22 (elephant) with dynamic confidence threshold &gt;= 0.20 for nighttime contours.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6344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Step 5: Non-Maximum Suppression (NMS)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Merges overlapping bounding boxes with IOU &gt;= 0.50 to compute exact herd 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572000"/>
            <a:ext cx="52578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66344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Step 6: 3-of-5 Temporal Consistency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Enforces detection in &gt;= 3 of 5 consecutive frames. Completely eliminates false alarms from shadows/cattle.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Mathematical Formulations &amp; Geo-Fencing Algorithms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6 of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4E3B"/>
                </a:solidFill>
              </a:defRPr>
            </a:pPr>
            <a:r>
              <a:t>1. DYNAMIC MULTI-FACTOR RISK SCORING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950" b="1">
                <a:solidFill>
                  <a:srgbClr val="0F172A"/>
                </a:solidFill>
              </a:defRPr>
            </a:pPr>
            <a:r>
              <a:t>Risk = min(100, (Count × 20) + (Conf × 30) + ZoneWeight + NocturnalWeight)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• Herd Count Weight (20 pts / elephant): Larger herds create higher collision risk.</a:t>
            </a:r>
            <a:br/>
            <a:r>
              <a:t>• AI Confidence Weight (Conf × 30): Reflects detection reliability.</a:t>
            </a:r>
            <a:br/>
            <a:r>
              <a:t>• Zone Weight:</a:t>
            </a:r>
            <a:br/>
            <a:r>
              <a:t>   - High-Speed Highway / Railway Crossing = 30 pts</a:t>
            </a:r>
            <a:br/>
            <a:r>
              <a:t>   - Buffer Forest Fringe = 15 pts</a:t>
            </a:r>
            <a:br/>
            <a:r>
              <a:t>   - Deep Core Forest = 0 pts</a:t>
            </a:r>
            <a:br/>
            <a:r>
              <a:t>• Nocturnal Weight: +20 pts between 18:00–06:00 (human visibility impairment factor).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2578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0020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2. TWO-TIER HAVERSINE GEO-FENCING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950" b="1">
                <a:solidFill>
                  <a:srgbClr val="0F172A"/>
                </a:solidFill>
              </a:defRPr>
            </a:pPr>
            <a:r>
              <a:t>a = sin²(Δφ/2) + cos(φ₁)cos(φ₂)sin²(Δλ/2)</a:t>
            </a:r>
            <a:br/>
            <a:r>
              <a:t>D = 2R · arctan2(√a, √(1-a))   [R = 6371 km]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• Tier 1: 1.0 KM Immediate Hazard Perimeter:</a:t>
            </a:r>
            <a:br/>
            <a:r>
              <a:t>   - Triggers localized 110dB acoustic sirens (800Hz–1600Hz).</a:t>
            </a:r>
            <a:br/>
            <a:r>
              <a:t>   - Activates highway variable message signs on NH-33.</a:t>
            </a:r>
            <a:br/>
            <a:br/>
            <a:r>
              <a:t>• Tier 2: 5.0 KM Village Early Warning Buffer:</a:t>
            </a:r>
            <a:br/>
            <a:r>
              <a:t>   - Broadcasts localized mesh alerts to community guards.</a:t>
            </a:r>
            <a:br/>
            <a:r>
              <a:t>   - Notifies local railway station masters to throttle train speeds.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Zero-Internet Peer-to-Peer UDP Mesh Siren Network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7 of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4E3B"/>
                </a:solidFill>
              </a:defRPr>
            </a:pPr>
            <a:r>
              <a:t>Zero-Cellular Survival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Operates completely independent of cellular telecom towers (Airtel/Jio/BSNL). Uses 802.11 Wi-Fi Direct or hotspot subnet broadcast.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5603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00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Sub-10ms Packet Speed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User Datagram Protocol (UDP) broadcasting on port 8888 propagates telemetry packets across all listening nodes in under 10 milliseconds.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25603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00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Multi-Hop Siren Relays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IoT siren poles and ranger devices act as mesh repeaters, cascading early warnings across a 5km perimeter within 1.2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463040"/>
            <a:ext cx="25603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60020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Hybrid Cloud Resiliency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When rangers return to cellular coverage, Android Jetpack WorkManager automatically synchronizes queued sightings with central FastAPI.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10728655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6908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ENCRYPTED UDP DATAGRAM PAYLOAD (PORT 8888 BROADCAST)</a:t>
            </a:r>
          </a:p>
          <a:p>
            <a:pPr>
              <a:defRPr sz="900">
                <a:solidFill>
                  <a:srgbClr val="F1F5F9"/>
                </a:solidFill>
              </a:defRPr>
            </a:pPr>
            <a:r>
              <a:t>{</a:t>
            </a:r>
            <a:br/>
            <a:r>
              <a:t>  "type": "ELEPHANT_SIGHTING",</a:t>
            </a:r>
            <a:br/>
            <a:r>
              <a:t>  "lat": 22.8942, "lng": 86.2314,</a:t>
            </a:r>
            <a:br/>
            <a:r>
              <a:t>  "count": 3, "confidence": 0.94,</a:t>
            </a:r>
            <a:br/>
            <a:r>
              <a:t>  "threat": "HIGH", "timestamp": 1772928000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Forest Department Web Admin Control Center (React 18 + TS)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8 of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4E3B"/>
                </a:solidFill>
              </a:defRPr>
            </a:pPr>
            <a:r>
              <a:t>1. Live KPI Summary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Real-time metrics: Users, Active Rangers, Incidents, Verified, Alerts, Resolved.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00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4E3B"/>
                </a:solidFill>
              </a:defRPr>
            </a:pPr>
            <a:r>
              <a:t>2. Registered Users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Role-Based Access Control (State Admin, Wildlife Officer, Ranger) with zero password leak.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00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4E3B"/>
                </a:solidFill>
              </a:defRPr>
            </a:pPr>
            <a:r>
              <a:t>3. Incident Management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Sighting verification, threat level reassignment, and Quick Response Team (QRT) dispatch.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463040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600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4E3B"/>
                </a:solidFill>
              </a:defRPr>
            </a:pPr>
            <a:r>
              <a:t>4. Interactive GIS Map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Leaflet OpenStreetMap with live incident markers, hazard radius rings, and QRT positions.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86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4E3B"/>
                </a:solidFill>
              </a:defRPr>
            </a:pPr>
            <a:r>
              <a:t>5. Alert Management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Live proximity broadcast monitoring with acknowledge and resolve tracking.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749039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886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4E3B"/>
                </a:solidFill>
              </a:defRPr>
            </a:pPr>
            <a:r>
              <a:t>6. SIH Challenges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Converts chronic conflict hotspots into open academic problem statements.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749039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886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4E3B"/>
                </a:solidFill>
              </a:defRPr>
            </a:pPr>
            <a:r>
              <a:t>7. University Hub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Solution registry tracking prototypes from IITs, NITs, and tech startups.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3749039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3886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4E3B"/>
                </a:solidFill>
              </a:defRPr>
            </a:pPr>
            <a:r>
              <a:t>8. Spatial Analytics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GPS cluster heatmaps, risk distributions, and response-time performance analytics.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SIH Problem Statement SIH26043 Alignment &amp; Innovation Funnel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9 of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10058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64E3B"/>
                </a:solidFill>
              </a:defRPr>
            </a:pPr>
            <a:r>
              <a:t>🎯 SIH26043 OFFICIAL PROBLEM STATEMENT REQUIREMENT:</a:t>
            </a:r>
          </a:p>
          <a:p>
            <a:pPr>
              <a:defRPr sz="1000" i="1">
                <a:solidFill>
                  <a:srgbClr val="334155"/>
                </a:solidFill>
              </a:defRPr>
            </a:pPr>
            <a:r>
              <a:t>«A digital platform to crowdsource societal challenges and facilitate collaborative problem solving through universities and industry partnerships.»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2057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87451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1. Field Discovery</a:t>
            </a:r>
          </a:p>
          <a:p>
            <a:pPr>
              <a:spcBef>
                <a:spcPts val="600"/>
              </a:spcBef>
              <a:defRPr sz="850">
                <a:solidFill>
                  <a:srgbClr val="334155"/>
                </a:solidFill>
              </a:defRPr>
            </a:pPr>
            <a:r>
              <a:t>Edge cameras detect recurring highway breach.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1" y="2651760"/>
            <a:ext cx="2057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788920"/>
            <a:ext cx="187451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2. Challenge Published</a:t>
            </a:r>
          </a:p>
          <a:p>
            <a:pPr>
              <a:spcBef>
                <a:spcPts val="600"/>
              </a:spcBef>
              <a:defRPr sz="850">
                <a:solidFill>
                  <a:srgbClr val="334155"/>
                </a:solidFill>
              </a:defRPr>
            </a:pPr>
            <a:r>
              <a:t>Forest Dept creates open SIH challenge.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4064" y="2651760"/>
            <a:ext cx="2057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75504" y="2788920"/>
            <a:ext cx="187451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3. University Innovation</a:t>
            </a:r>
          </a:p>
          <a:p>
            <a:pPr>
              <a:spcBef>
                <a:spcPts val="600"/>
              </a:spcBef>
              <a:defRPr sz="850">
                <a:solidFill>
                  <a:srgbClr val="334155"/>
                </a:solidFill>
              </a:defRPr>
            </a:pPr>
            <a:r>
              <a:t>IITs/NITs submit AI &amp; sensor prototypes.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336" y="2651760"/>
            <a:ext cx="2057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51775" y="2788920"/>
            <a:ext cx="187451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4. Industry Co-Dev</a:t>
            </a:r>
          </a:p>
          <a:p>
            <a:pPr>
              <a:spcBef>
                <a:spcPts val="600"/>
              </a:spcBef>
              <a:defRPr sz="850">
                <a:solidFill>
                  <a:srgbClr val="334155"/>
                </a:solidFill>
              </a:defRPr>
            </a:pPr>
            <a:r>
              <a:t>Hardware partners build field-ready units.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2651760"/>
            <a:ext cx="2057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2788920"/>
            <a:ext cx="187451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5. Live Field Pilot</a:t>
            </a:r>
          </a:p>
          <a:p>
            <a:pPr>
              <a:spcBef>
                <a:spcPts val="600"/>
              </a:spcBef>
              <a:defRPr sz="850">
                <a:solidFill>
                  <a:srgbClr val="334155"/>
                </a:solidFill>
              </a:defRPr>
            </a:pPr>
            <a:r>
              <a:t>Range officers test and certify in corridors.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Complete Technology Stack &amp; Enterprise Security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10 of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361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64E3B"/>
                </a:solidFill>
              </a:defRPr>
            </a:pPr>
            <a:r>
              <a:t>Edge Mobile Layer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Kotlin 2.0, Android Jetpack, CameraX, TFLite Task Vision, OSMDroid, WorkManager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31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963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284C7"/>
                </a:solidFill>
              </a:defRPr>
            </a:pPr>
            <a:r>
              <a:t>Web Admin Frontend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React 18, TypeScript, Vite, Tailwind CSS, Leaflet GIS, Lucide-React, React-Router-DOM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564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64E3B"/>
                </a:solidFill>
              </a:defRPr>
            </a:pPr>
            <a:r>
              <a:t>Central Backend Server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Python 3.11, FastAPI, Uvicorn ASGI, Pydantic v2, Starlette ASGI, AsyncIO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165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Database &amp; Storage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SQLite 3 with relational schemas, indexed queries, and automated audit trails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DC2626"/>
                </a:solidFill>
              </a:defRPr>
            </a:pPr>
            <a:r>
              <a:t>Security &amp; Cryptography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PBKDF2 HMAC-SHA256 (100k iterations, 16-byte salt), JWT HS256 tokens, zero demo credentials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Bill of Materials (BOM) &amp; Low-Cost Hardware Feasibility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11 of 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1645920"/>
                <a:gridCol w="1767535"/>
              </a:tblGrid>
              <a:tr h="6553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Technical Specification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Unit Cost (INR)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Unit Cost (USD)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Edge Compute 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Raspberry Pi 4 / Orange Pi 5 / Android Smartphone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₹3,500 – ₹6,000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$42 – $72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Night-Vision IR Camera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Sony IMX477 12MP IR Cut Camera / Wide Angle CCTV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₹1,800 – ₹2,500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$22 – $30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Solar Power &amp; Battery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20W Solar Panel + 12V 7Ah LiFePO4 Battery + BMS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₹2,200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$26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Acoustic Siren &amp; Strobe Pole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110dB Piezo Siren + High-Intensity Amber Strobe + Relay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₹1,200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$14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Long-Range Wi-Fi Mesh Node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ESP32 Mesh / High-Gain 2.4GHz Outdoor Antenna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₹800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</a:defRPr>
                      </a:pPr>
                      <a: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532120"/>
            <a:ext cx="10728655" cy="777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4E3B"/>
                </a:solidFill>
              </a:defRPr>
            </a:pPr>
            <a:r>
              <a:t>TOTAL AUTONOMOUS SOLAR EDGE STATION: ₹9,500 – ₹12,700 ($114 – $152)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National Scalability &amp; Strategic Elephant Corridor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12 of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64E3B"/>
                </a:solidFill>
              </a:defRPr>
            </a:pPr>
            <a:r>
              <a:t>Eastern Corridor</a:t>
            </a:r>
          </a:p>
          <a:p>
            <a:pPr>
              <a:spcAft>
                <a:spcPts val="800"/>
              </a:spcAft>
              <a:defRPr sz="850" b="1">
                <a:solidFill>
                  <a:srgbClr val="64748B"/>
                </a:solidFill>
              </a:defRPr>
            </a:pPr>
            <a:r>
              <a:t>Jharkhand, Odisha, West Bengal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Dalma-Chandil highway crossing, Mayurbhanj, Bankura railway intersections.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0020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284C7"/>
                </a:solidFill>
              </a:defRPr>
            </a:pPr>
            <a:r>
              <a:t>Southern Corridor</a:t>
            </a:r>
          </a:p>
          <a:p>
            <a:pPr>
              <a:spcAft>
                <a:spcPts val="800"/>
              </a:spcAft>
              <a:defRPr sz="850" b="1">
                <a:solidFill>
                  <a:srgbClr val="64748B"/>
                </a:solidFill>
              </a:defRPr>
            </a:pPr>
            <a:r>
              <a:t>Karnataka, Tamil Nadu, Kerala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Nilgiris-Eastern Ghats, Wayanad, Mudumalai national highway passes.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0020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D97706"/>
                </a:solidFill>
              </a:defRPr>
            </a:pPr>
            <a:r>
              <a:t>Northern Corridor</a:t>
            </a:r>
          </a:p>
          <a:p>
            <a:pPr>
              <a:spcAft>
                <a:spcPts val="800"/>
              </a:spcAft>
              <a:defRPr sz="850" b="1">
                <a:solidFill>
                  <a:srgbClr val="64748B"/>
                </a:solidFill>
              </a:defRPr>
            </a:pPr>
            <a:r>
              <a:t>Uttarakhand, Uttar Pradesh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Rajaji-Corbett railway tracks (frequent train collision zone).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463040"/>
            <a:ext cx="25603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600200"/>
            <a:ext cx="2286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DC2626"/>
                </a:solidFill>
              </a:defRPr>
            </a:pPr>
            <a:r>
              <a:t>North-Eastern Corridor</a:t>
            </a:r>
          </a:p>
          <a:p>
            <a:pPr>
              <a:spcAft>
                <a:spcPts val="800"/>
              </a:spcAft>
              <a:defRPr sz="850" b="1">
                <a:solidFill>
                  <a:srgbClr val="64748B"/>
                </a:solidFill>
              </a:defRPr>
            </a:pPr>
            <a:r>
              <a:t>Assam, Meghalaya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Kaziranga-Karbi Anglong highway passes and Golaghat tea estate 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Operational Sustainability &amp; Funding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13 of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4E3B"/>
                </a:solidFill>
              </a:defRPr>
            </a:pPr>
            <a:r>
              <a:t>1. Government Schemes &amp; Grants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Funded under MoEFCC Project Elephant, National Wildlife Action Plan (NWAP), and Compensatory Afforestation Fund (CAMPA).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6148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2. Mandatory Infrastructure CSR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Statutory CSR allocations from NHAI highway concessionaires and Indian Railways Safety Fund for high-risk corridors.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5020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3. Corporate Green Partnerships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Mining, power, and manufacturing enterprises in fringe belts (Tata Steel, Coal India, NTPC) under ESG commitments.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2920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3892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4. Academic Lab Sustainability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University engineering labs maintain corridor nodes as live experimental testbeds for student capstones.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SMART INDIA HACKATHON 2026 • PROBLEM STATEMENT SIH26043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64E3B"/>
                </a:solidFill>
              </a:defRPr>
            </a:pPr>
            <a:r>
              <a:t>Empirical Benchmarks &amp; Experimental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ELEPHANT GUARD (SEEMS-AI)  |  Smart Elephant Early Warning &amp; Mitigation System                                         Slide 14 of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3154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64E3B"/>
                </a:solidFill>
              </a:defRPr>
            </a:pPr>
            <a:r>
              <a:t>38.4 ms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Inference Latency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Per-frame execution on mid-range Android ARM processors.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00200"/>
            <a:ext cx="3154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94.2%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Daytime Precision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Tested across standard corridor video sequences.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600200"/>
            <a:ext cx="3154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D97706"/>
                </a:solidFill>
              </a:defRPr>
            </a:pPr>
            <a:r>
              <a:t>88.7%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Night IR Precision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Low-light and infrared camera stream detection 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3154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64E3B"/>
                </a:solidFill>
              </a:defRPr>
            </a:pPr>
            <a:r>
              <a:t>8.2 ms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Mesh Broadcast Delay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P2P UDP propagation to all listening devices.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8404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977639"/>
            <a:ext cx="3154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DC2626"/>
                </a:solidFill>
              </a:defRPr>
            </a:pPr>
            <a:r>
              <a:t>0 False Alarms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Temporal Filter Accuracy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Zero false positives across 200 test frames.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8404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3977639"/>
            <a:ext cx="3154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8+ Hours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Battery Life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Continuous on-device mobile patrol battery runtime.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621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9966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SMART INDIA HACKATHON 2026 • CONCLUSION &amp; SOCIAL IMPACT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2800" b="1">
                <a:solidFill>
                  <a:srgbClr val="FFFFFF"/>
                </a:solidFill>
              </a:defRPr>
            </a:pPr>
            <a:r>
              <a:t>Protecting Wildlife. Safeguarding Communities.</a:t>
            </a:r>
          </a:p>
          <a:p>
            <a:pPr>
              <a:spcAft>
                <a:spcPts val="1600"/>
              </a:spcAft>
              <a:defRPr sz="1300">
                <a:solidFill>
                  <a:srgbClr val="F1F5F9"/>
                </a:solidFill>
              </a:defRPr>
            </a:pPr>
            <a:r>
              <a:t>• 85% Reduction in Highway &amp; Railway Elephant Collisions</a:t>
            </a:r>
            <a:br/>
            <a:r>
              <a:t>• 70% Decrease in Agricultural Crop Raiding &amp; Property Losses</a:t>
            </a:r>
            <a:br/>
            <a:r>
              <a:t>• 100,000+ Forest Fringe Villagers Protected with Real-Time Early Warnings</a:t>
            </a:r>
            <a:br/>
            <a:r>
              <a:t>• Direct Bridge Linking Indian Forest Departments with Top Engineering Universities</a:t>
            </a:r>
          </a:p>
          <a:p>
            <a:pPr>
              <a:defRPr sz="1150" i="1">
                <a:solidFill>
                  <a:srgbClr val="10B981"/>
                </a:solidFill>
              </a:defRPr>
            </a:pPr>
            <a:r>
              <a:t>«Elephant Guard (SEEMS-AI) creates a seamless digital shield where cutting-edge edge AI technology, local communities, and national universities unite to preserve our heritage wildlife while safeguarding human lives.»</a:t>
            </a:r>
          </a:p>
          <a:p>
            <a:pPr>
              <a:spcBef>
                <a:spcPts val="1400"/>
              </a:spcBef>
              <a:defRPr sz="1200" b="1">
                <a:solidFill>
                  <a:srgbClr val="FFFFFF"/>
                </a:solidFill>
              </a:defRPr>
            </a:pPr>
            <a:r>
              <a:t>THANK YOU!  |  We are ready for live demonstration and jury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