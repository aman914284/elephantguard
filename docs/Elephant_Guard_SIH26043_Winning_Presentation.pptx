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10000"/>
    <a:srgbClr val="495E78"/>
    <a:srgbClr val="39B0D4"/>
    <a:srgbClr val="9BBB59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3C796-91C7-4F08-A48D-F1C3F621EF0A}" v="76" dt="2026-09-05T14:56:34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N MONDAL" userId="24ed51a9b0db90ff" providerId="LiveId" clId="{EDC4B98D-1D87-44F2-80EA-3B0C51D841EF}"/>
    <pc:docChg chg="undo custSel modSld sldOrd">
      <pc:chgData name="SAHIN MONDAL" userId="24ed51a9b0db90ff" providerId="LiveId" clId="{EDC4B98D-1D87-44F2-80EA-3B0C51D841EF}" dt="2026-09-05T14:58:10.055" v="3880" actId="20577"/>
      <pc:docMkLst>
        <pc:docMk/>
      </pc:docMkLst>
      <pc:sldChg chg="addSp modSp mod">
        <pc:chgData name="SAHIN MONDAL" userId="24ed51a9b0db90ff" providerId="LiveId" clId="{EDC4B98D-1D87-44F2-80EA-3B0C51D841EF}" dt="2026-09-05T13:56:04.921" v="3208" actId="20577"/>
        <pc:sldMkLst>
          <pc:docMk/>
          <pc:sldMk cId="0" sldId="281"/>
        </pc:sldMkLst>
        <pc:spChg chg="mod">
          <ac:chgData name="SAHIN MONDAL" userId="24ed51a9b0db90ff" providerId="LiveId" clId="{EDC4B98D-1D87-44F2-80EA-3B0C51D841EF}" dt="2026-09-05T13:56:04.921" v="3208" actId="20577"/>
          <ac:spMkLst>
            <pc:docMk/>
            <pc:sldMk cId="0" sldId="281"/>
            <ac:spMk id="15362" creationId="{00000000-0000-0000-0000-000000000000}"/>
          </ac:spMkLst>
        </pc:spChg>
        <pc:picChg chg="add mod">
          <ac:chgData name="SAHIN MONDAL" userId="24ed51a9b0db90ff" providerId="LiveId" clId="{EDC4B98D-1D87-44F2-80EA-3B0C51D841EF}" dt="2026-09-04T16:53:44.465" v="2995" actId="14100"/>
          <ac:picMkLst>
            <pc:docMk/>
            <pc:sldMk cId="0" sldId="281"/>
            <ac:picMk id="3" creationId="{CE421A9B-78B3-B33E-8249-F0C4866655B5}"/>
          </ac:picMkLst>
        </pc:picChg>
      </pc:sldChg>
      <pc:sldChg chg="addSp delSp modSp mod">
        <pc:chgData name="SAHIN MONDAL" userId="24ed51a9b0db90ff" providerId="LiveId" clId="{EDC4B98D-1D87-44F2-80EA-3B0C51D841EF}" dt="2026-09-04T15:36:42.917" v="2477" actId="20577"/>
        <pc:sldMkLst>
          <pc:docMk/>
          <pc:sldMk cId="0" sldId="290"/>
        </pc:sldMkLst>
        <pc:spChg chg="add mod">
          <ac:chgData name="SAHIN MONDAL" userId="24ed51a9b0db90ff" providerId="LiveId" clId="{EDC4B98D-1D87-44F2-80EA-3B0C51D841EF}" dt="2026-09-04T15:36:42.917" v="2477" actId="20577"/>
          <ac:spMkLst>
            <pc:docMk/>
            <pc:sldMk cId="0" sldId="290"/>
            <ac:spMk id="2" creationId="{45D16719-2373-1FA1-A56F-39D4133E8456}"/>
          </ac:spMkLst>
        </pc:spChg>
        <pc:spChg chg="mod">
          <ac:chgData name="SAHIN MONDAL" userId="24ed51a9b0db90ff" providerId="LiveId" clId="{EDC4B98D-1D87-44F2-80EA-3B0C51D841EF}" dt="2026-09-03T13:20:50.429" v="13" actId="115"/>
          <ac:spMkLst>
            <pc:docMk/>
            <pc:sldMk cId="0" sldId="290"/>
            <ac:spMk id="17409" creationId="{00000000-0000-0000-0000-000000000000}"/>
          </ac:spMkLst>
        </pc:spChg>
      </pc:sldChg>
      <pc:sldChg chg="addSp delSp modSp mod">
        <pc:chgData name="SAHIN MONDAL" userId="24ed51a9b0db90ff" providerId="LiveId" clId="{EDC4B98D-1D87-44F2-80EA-3B0C51D841EF}" dt="2026-09-03T14:58:14.226" v="1306" actId="27309"/>
        <pc:sldMkLst>
          <pc:docMk/>
          <pc:sldMk cId="0" sldId="291"/>
        </pc:sldMkLst>
      </pc:sldChg>
      <pc:sldChg chg="addSp delSp modSp mod ord">
        <pc:chgData name="SAHIN MONDAL" userId="24ed51a9b0db90ff" providerId="LiveId" clId="{EDC4B98D-1D87-44F2-80EA-3B0C51D841EF}" dt="2026-09-05T14:12:53.736" v="3329" actId="1076"/>
        <pc:sldMkLst>
          <pc:docMk/>
          <pc:sldMk cId="3753387913" sldId="293"/>
        </pc:sldMkLst>
        <pc:spChg chg="add mod topLvl">
          <ac:chgData name="SAHIN MONDAL" userId="24ed51a9b0db90ff" providerId="LiveId" clId="{EDC4B98D-1D87-44F2-80EA-3B0C51D841EF}" dt="2026-09-05T13:57:16.904" v="3213"/>
          <ac:spMkLst>
            <pc:docMk/>
            <pc:sldMk cId="3753387913" sldId="293"/>
            <ac:spMk id="2" creationId="{F4494AC8-AC53-5E69-BF23-F08F9AD3F13F}"/>
          </ac:spMkLst>
        </pc:spChg>
        <pc:spChg chg="add del mod topLvl">
          <ac:chgData name="SAHIN MONDAL" userId="24ed51a9b0db90ff" providerId="LiveId" clId="{EDC4B98D-1D87-44F2-80EA-3B0C51D841EF}" dt="2026-09-05T13:57:16.904" v="3213"/>
          <ac:spMkLst>
            <pc:docMk/>
            <pc:sldMk cId="3753387913" sldId="293"/>
            <ac:spMk id="3" creationId="{90E00721-EABE-A319-6727-CA3B7C98AFE1}"/>
          </ac:spMkLst>
        </pc:spChg>
        <pc:spChg chg="mod topLvl">
          <ac:chgData name="SAHIN MONDAL" userId="24ed51a9b0db90ff" providerId="LiveId" clId="{EDC4B98D-1D87-44F2-80EA-3B0C51D841EF}" dt="2026-09-05T13:40:04.909" v="3004" actId="20577"/>
          <ac:spMkLst>
            <pc:docMk/>
            <pc:sldMk cId="3753387913" sldId="293"/>
            <ac:spMk id="4" creationId="{459BC418-1276-605B-D547-3922EDAE5EF5}"/>
          </ac:spMkLst>
        </pc:spChg>
        <pc:spChg chg="mod topLvl">
          <ac:chgData name="SAHIN MONDAL" userId="24ed51a9b0db90ff" providerId="LiveId" clId="{EDC4B98D-1D87-44F2-80EA-3B0C51D841EF}" dt="2026-09-05T13:50:54.717" v="3169" actId="1076"/>
          <ac:spMkLst>
            <pc:docMk/>
            <pc:sldMk cId="3753387913" sldId="293"/>
            <ac:spMk id="5" creationId="{2D0C39F3-709E-22F4-CD4D-1FAF83CEE43F}"/>
          </ac:spMkLst>
        </pc:spChg>
        <pc:spChg chg="del">
          <ac:chgData name="SAHIN MONDAL" userId="24ed51a9b0db90ff" providerId="LiveId" clId="{EDC4B98D-1D87-44F2-80EA-3B0C51D841EF}" dt="2026-09-04T15:08:27.590" v="2280" actId="478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SAHIN MONDAL" userId="24ed51a9b0db90ff" providerId="LiveId" clId="{EDC4B98D-1D87-44F2-80EA-3B0C51D841EF}" dt="2026-09-05T13:55:20.354" v="3204" actId="1076"/>
          <ac:spMkLst>
            <pc:docMk/>
            <pc:sldMk cId="3753387913" sldId="293"/>
            <ac:spMk id="12" creationId="{5DBCE864-823D-4A13-9607-5DA1F0ED5FB8}"/>
          </ac:spMkLst>
        </pc:spChg>
        <pc:spChg chg="add mod">
          <ac:chgData name="SAHIN MONDAL" userId="24ed51a9b0db90ff" providerId="LiveId" clId="{EDC4B98D-1D87-44F2-80EA-3B0C51D841EF}" dt="2026-09-05T13:58:54.618" v="3216" actId="20577"/>
          <ac:spMkLst>
            <pc:docMk/>
            <pc:sldMk cId="3753387913" sldId="293"/>
            <ac:spMk id="17" creationId="{F2C57EF9-4439-3CAE-4BAF-E7B430A1BF05}"/>
          </ac:spMkLst>
        </pc:spChg>
        <pc:spChg chg="add mod">
          <ac:chgData name="SAHIN MONDAL" userId="24ed51a9b0db90ff" providerId="LiveId" clId="{EDC4B98D-1D87-44F2-80EA-3B0C51D841EF}" dt="2026-09-05T13:57:16.904" v="3213"/>
          <ac:spMkLst>
            <pc:docMk/>
            <pc:sldMk cId="3753387913" sldId="293"/>
            <ac:spMk id="21" creationId="{EDD753A4-7982-4C68-A0FB-514D87B730FA}"/>
          </ac:spMkLst>
        </pc:spChg>
        <pc:spChg chg="mod">
          <ac:chgData name="SAHIN MONDAL" userId="24ed51a9b0db90ff" providerId="LiveId" clId="{EDC4B98D-1D87-44F2-80EA-3B0C51D841EF}" dt="2026-09-05T13:40:49.956" v="3009" actId="115"/>
          <ac:spMkLst>
            <pc:docMk/>
            <pc:sldMk cId="3753387913" sldId="293"/>
            <ac:spMk id="17409" creationId="{00000000-0000-0000-0000-000000000000}"/>
          </ac:spMkLst>
        </pc:spChg>
        <pc:grpChg chg="add del mod">
          <ac:chgData name="SAHIN MONDAL" userId="24ed51a9b0db90ff" providerId="LiveId" clId="{EDC4B98D-1D87-44F2-80EA-3B0C51D841EF}" dt="2026-09-05T13:57:16.904" v="3213"/>
          <ac:grpSpMkLst>
            <pc:docMk/>
            <pc:sldMk cId="3753387913" sldId="293"/>
            <ac:grpSpMk id="7" creationId="{E4D1ECE2-E9B8-FB0D-90D3-3E14503B4995}"/>
          </ac:grpSpMkLst>
        </pc:grpChg>
        <pc:grpChg chg="add del mod">
          <ac:chgData name="SAHIN MONDAL" userId="24ed51a9b0db90ff" providerId="LiveId" clId="{EDC4B98D-1D87-44F2-80EA-3B0C51D841EF}" dt="2026-09-05T13:46:00.087" v="3055" actId="478"/>
          <ac:grpSpMkLst>
            <pc:docMk/>
            <pc:sldMk cId="3753387913" sldId="293"/>
            <ac:grpSpMk id="9" creationId="{DACA3F0D-436B-12EB-8D09-8EB37B9BD7BD}"/>
          </ac:grpSpMkLst>
        </pc:grpChg>
        <pc:grpChg chg="add mod">
          <ac:chgData name="SAHIN MONDAL" userId="24ed51a9b0db90ff" providerId="LiveId" clId="{EDC4B98D-1D87-44F2-80EA-3B0C51D841EF}" dt="2026-09-05T13:57:16.904" v="3213"/>
          <ac:grpSpMkLst>
            <pc:docMk/>
            <pc:sldMk cId="3753387913" sldId="293"/>
            <ac:grpSpMk id="16" creationId="{2F67B53D-1462-90D7-9F5B-769C2FC8E24F}"/>
          </ac:grpSpMkLst>
        </pc:grpChg>
        <pc:grpChg chg="add mod">
          <ac:chgData name="SAHIN MONDAL" userId="24ed51a9b0db90ff" providerId="LiveId" clId="{EDC4B98D-1D87-44F2-80EA-3B0C51D841EF}" dt="2026-09-05T13:55:29.171" v="3205" actId="1076"/>
          <ac:grpSpMkLst>
            <pc:docMk/>
            <pc:sldMk cId="3753387913" sldId="293"/>
            <ac:grpSpMk id="22" creationId="{9A56537E-E2CF-45A7-6655-357F6775EA6F}"/>
          </ac:grpSpMkLst>
        </pc:grpChg>
        <pc:picChg chg="del mod topLvl">
          <ac:chgData name="SAHIN MONDAL" userId="24ed51a9b0db90ff" providerId="LiveId" clId="{EDC4B98D-1D87-44F2-80EA-3B0C51D841EF}" dt="2026-09-05T13:46:00.087" v="3055" actId="478"/>
          <ac:picMkLst>
            <pc:docMk/>
            <pc:sldMk cId="3753387913" sldId="293"/>
            <ac:picMk id="8" creationId="{6F86D6FD-9BED-61F7-0975-1DA3E3815A12}"/>
          </ac:picMkLst>
        </pc:picChg>
        <pc:picChg chg="add mod">
          <ac:chgData name="SAHIN MONDAL" userId="24ed51a9b0db90ff" providerId="LiveId" clId="{EDC4B98D-1D87-44F2-80EA-3B0C51D841EF}" dt="2026-09-05T14:12:53.736" v="3329" actId="1076"/>
          <ac:picMkLst>
            <pc:docMk/>
            <pc:sldMk cId="3753387913" sldId="293"/>
            <ac:picMk id="19" creationId="{E79E308A-C5D4-B2A1-5CA6-0FA53D3E776D}"/>
          </ac:picMkLst>
        </pc:picChg>
        <pc:cxnChg chg="add del mod">
          <ac:chgData name="SAHIN MONDAL" userId="24ed51a9b0db90ff" providerId="LiveId" clId="{EDC4B98D-1D87-44F2-80EA-3B0C51D841EF}" dt="2026-09-05T13:51:29.276" v="3178" actId="11529"/>
          <ac:cxnSpMkLst>
            <pc:docMk/>
            <pc:sldMk cId="3753387913" sldId="293"/>
            <ac:cxnSpMk id="13" creationId="{65DEC281-A472-BA18-A779-9816C064D7F1}"/>
          </ac:cxnSpMkLst>
        </pc:cxnChg>
      </pc:sldChg>
      <pc:sldChg chg="addSp delSp modSp mod">
        <pc:chgData name="SAHIN MONDAL" userId="24ed51a9b0db90ff" providerId="LiveId" clId="{EDC4B98D-1D87-44F2-80EA-3B0C51D841EF}" dt="2026-09-05T14:25:56.115" v="3520" actId="20577"/>
        <pc:sldMkLst>
          <pc:docMk/>
          <pc:sldMk cId="2997144140" sldId="294"/>
        </pc:sldMkLst>
        <pc:spChg chg="add mod">
          <ac:chgData name="SAHIN MONDAL" userId="24ed51a9b0db90ff" providerId="LiveId" clId="{EDC4B98D-1D87-44F2-80EA-3B0C51D841EF}" dt="2026-09-05T14:25:56.115" v="3520" actId="20577"/>
          <ac:spMkLst>
            <pc:docMk/>
            <pc:sldMk cId="2997144140" sldId="294"/>
            <ac:spMk id="2" creationId="{679FA70A-B758-C96D-8961-23865205FA7A}"/>
          </ac:spMkLst>
        </pc:spChg>
        <pc:spChg chg="add del">
          <ac:chgData name="SAHIN MONDAL" userId="24ed51a9b0db90ff" providerId="LiveId" clId="{EDC4B98D-1D87-44F2-80EA-3B0C51D841EF}" dt="2026-09-04T15:24:20.115" v="2328" actId="22"/>
          <ac:spMkLst>
            <pc:docMk/>
            <pc:sldMk cId="2997144140" sldId="294"/>
            <ac:spMk id="3" creationId="{A5EFF97B-E1E9-E0F3-2A4A-AA085291DC2E}"/>
          </ac:spMkLst>
        </pc:spChg>
        <pc:spChg chg="del">
          <ac:chgData name="SAHIN MONDAL" userId="24ed51a9b0db90ff" providerId="LiveId" clId="{EDC4B98D-1D87-44F2-80EA-3B0C51D841EF}" dt="2026-09-04T16:17:07.431" v="2983" actId="478"/>
          <ac:spMkLst>
            <pc:docMk/>
            <pc:sldMk cId="2997144140" sldId="294"/>
            <ac:spMk id="7" creationId="{00000000-0000-0000-0000-000000000000}"/>
          </ac:spMkLst>
        </pc:spChg>
        <pc:spChg chg="del">
          <ac:chgData name="SAHIN MONDAL" userId="24ed51a9b0db90ff" providerId="LiveId" clId="{EDC4B98D-1D87-44F2-80EA-3B0C51D841EF}" dt="2026-09-04T15:36:56.081" v="2478" actId="478"/>
          <ac:spMkLst>
            <pc:docMk/>
            <pc:sldMk cId="2997144140" sldId="294"/>
            <ac:spMk id="10" creationId="{AD4F69D3-EEB0-4C4C-9434-B9960FB5854C}"/>
          </ac:spMkLst>
        </pc:spChg>
        <pc:spChg chg="add mod">
          <ac:chgData name="SAHIN MONDAL" userId="24ed51a9b0db90ff" providerId="LiveId" clId="{EDC4B98D-1D87-44F2-80EA-3B0C51D841EF}" dt="2026-09-05T14:14:34.982" v="3342" actId="20577"/>
          <ac:spMkLst>
            <pc:docMk/>
            <pc:sldMk cId="2997144140" sldId="294"/>
            <ac:spMk id="13" creationId="{10CA354C-9DCA-FE41-443C-AE4333A1273C}"/>
          </ac:spMkLst>
        </pc:spChg>
        <pc:spChg chg="add del mod">
          <ac:chgData name="SAHIN MONDAL" userId="24ed51a9b0db90ff" providerId="LiveId" clId="{EDC4B98D-1D87-44F2-80EA-3B0C51D841EF}" dt="2026-09-04T16:04:08.256" v="2909" actId="478"/>
          <ac:spMkLst>
            <pc:docMk/>
            <pc:sldMk cId="2997144140" sldId="294"/>
            <ac:spMk id="14" creationId="{53535AEF-3173-5472-E7F2-CA76AAF9ADD2}"/>
          </ac:spMkLst>
        </pc:spChg>
        <pc:spChg chg="mod">
          <ac:chgData name="SAHIN MONDAL" userId="24ed51a9b0db90ff" providerId="LiveId" clId="{EDC4B98D-1D87-44F2-80EA-3B0C51D841EF}" dt="2026-09-04T15:29:05.285" v="2341" actId="115"/>
          <ac:spMkLst>
            <pc:docMk/>
            <pc:sldMk cId="2997144140" sldId="294"/>
            <ac:spMk id="17409" creationId="{00000000-0000-0000-0000-000000000000}"/>
          </ac:spMkLst>
        </pc:spChg>
        <pc:spChg chg="del mod">
          <ac:chgData name="SAHIN MONDAL" userId="24ed51a9b0db90ff" providerId="LiveId" clId="{EDC4B98D-1D87-44F2-80EA-3B0C51D841EF}" dt="2026-09-04T15:24:15.616" v="2326"/>
          <ac:spMkLst>
            <pc:docMk/>
            <pc:sldMk cId="2997144140" sldId="294"/>
            <ac:spMk id="17410" creationId="{00000000-0000-0000-0000-000000000000}"/>
          </ac:spMkLst>
        </pc:spChg>
        <pc:picChg chg="add del mod">
          <ac:chgData name="SAHIN MONDAL" userId="24ed51a9b0db90ff" providerId="LiveId" clId="{EDC4B98D-1D87-44F2-80EA-3B0C51D841EF}" dt="2026-09-04T15:27:48.800" v="2333" actId="478"/>
          <ac:picMkLst>
            <pc:docMk/>
            <pc:sldMk cId="2997144140" sldId="294"/>
            <ac:picMk id="5" creationId="{78F695BE-E1B6-631E-1F53-8AEBA9062A3C}"/>
          </ac:picMkLst>
        </pc:picChg>
        <pc:picChg chg="add mod">
          <ac:chgData name="SAHIN MONDAL" userId="24ed51a9b0db90ff" providerId="LiveId" clId="{EDC4B98D-1D87-44F2-80EA-3B0C51D841EF}" dt="2026-09-05T14:25:26.166" v="3518" actId="1076"/>
          <ac:picMkLst>
            <pc:docMk/>
            <pc:sldMk cId="2997144140" sldId="294"/>
            <ac:picMk id="9" creationId="{3994F8EF-38EA-72D9-E411-580B856D6495}"/>
          </ac:picMkLst>
        </pc:picChg>
      </pc:sldChg>
      <pc:sldChg chg="addSp delSp modSp mod">
        <pc:chgData name="SAHIN MONDAL" userId="24ed51a9b0db90ff" providerId="LiveId" clId="{EDC4B98D-1D87-44F2-80EA-3B0C51D841EF}" dt="2026-09-05T14:58:10.055" v="3880" actId="20577"/>
        <pc:sldMkLst>
          <pc:docMk/>
          <pc:sldMk cId="3916788613" sldId="296"/>
        </pc:sldMkLst>
        <pc:spChg chg="add mod">
          <ac:chgData name="SAHIN MONDAL" userId="24ed51a9b0db90ff" providerId="LiveId" clId="{EDC4B98D-1D87-44F2-80EA-3B0C51D841EF}" dt="2026-09-05T14:58:10.055" v="3880" actId="20577"/>
          <ac:spMkLst>
            <pc:docMk/>
            <pc:sldMk cId="3916788613" sldId="296"/>
            <ac:spMk id="2" creationId="{5FF70871-95B8-A4DE-6A62-F7B77FDEAA27}"/>
          </ac:spMkLst>
        </pc:spChg>
        <pc:spChg chg="add mod">
          <ac:chgData name="SAHIN MONDAL" userId="24ed51a9b0db90ff" providerId="LiveId" clId="{EDC4B98D-1D87-44F2-80EA-3B0C51D841EF}" dt="2026-09-05T14:57:06.677" v="3867" actId="1076"/>
          <ac:spMkLst>
            <pc:docMk/>
            <pc:sldMk cId="3916788613" sldId="296"/>
            <ac:spMk id="4" creationId="{71523407-B123-DF86-FB97-640BB9ED064C}"/>
          </ac:spMkLst>
        </pc:spChg>
        <pc:spChg chg="del">
          <ac:chgData name="SAHIN MONDAL" userId="24ed51a9b0db90ff" providerId="LiveId" clId="{EDC4B98D-1D87-44F2-80EA-3B0C51D841EF}" dt="2026-09-05T14:49:09.663" v="3696" actId="478"/>
          <ac:spMkLst>
            <pc:docMk/>
            <pc:sldMk cId="3916788613" sldId="296"/>
            <ac:spMk id="7" creationId="{00000000-0000-0000-0000-000000000000}"/>
          </ac:spMkLst>
        </pc:spChg>
        <pc:spChg chg="del">
          <ac:chgData name="SAHIN MONDAL" userId="24ed51a9b0db90ff" providerId="LiveId" clId="{EDC4B98D-1D87-44F2-80EA-3B0C51D841EF}" dt="2026-09-05T14:29:17.267" v="3521" actId="478"/>
          <ac:spMkLst>
            <pc:docMk/>
            <pc:sldMk cId="3916788613" sldId="296"/>
            <ac:spMk id="10" creationId="{AD4F69D3-EEB0-4C4C-9434-B9960FB5854C}"/>
          </ac:spMkLst>
        </pc:spChg>
        <pc:spChg chg="mod">
          <ac:chgData name="SAHIN MONDAL" userId="24ed51a9b0db90ff" providerId="LiveId" clId="{EDC4B98D-1D87-44F2-80EA-3B0C51D841EF}" dt="2026-09-05T14:53:42.987" v="3826" actId="115"/>
          <ac:spMkLst>
            <pc:docMk/>
            <pc:sldMk cId="3916788613" sldId="296"/>
            <ac:spMk id="17409" creationId="{00000000-0000-0000-0000-000000000000}"/>
          </ac:spMkLst>
        </pc:spChg>
        <pc:spChg chg="del mod">
          <ac:chgData name="SAHIN MONDAL" userId="24ed51a9b0db90ff" providerId="LiveId" clId="{EDC4B98D-1D87-44F2-80EA-3B0C51D841EF}" dt="2026-09-05T14:29:21.366" v="3524" actId="478"/>
          <ac:spMkLst>
            <pc:docMk/>
            <pc:sldMk cId="3916788613" sldId="296"/>
            <ac:spMk id="17410" creationId="{00000000-0000-0000-0000-000000000000}"/>
          </ac:spMkLst>
        </pc:spChg>
        <pc:graphicFrameChg chg="add del mod modGraphic">
          <ac:chgData name="SAHIN MONDAL" userId="24ed51a9b0db90ff" providerId="LiveId" clId="{EDC4B98D-1D87-44F2-80EA-3B0C51D841EF}" dt="2026-09-05T14:50:29.119" v="3699" actId="478"/>
          <ac:graphicFrameMkLst>
            <pc:docMk/>
            <pc:sldMk cId="3916788613" sldId="296"/>
            <ac:graphicFrameMk id="4" creationId="{310644F6-D047-1162-D5C3-C738C85E4328}"/>
          </ac:graphicFrameMkLst>
        </pc:graphicFrameChg>
        <pc:picChg chg="add mod">
          <ac:chgData name="SAHIN MONDAL" userId="24ed51a9b0db90ff" providerId="LiveId" clId="{EDC4B98D-1D87-44F2-80EA-3B0C51D841EF}" dt="2026-09-05T14:53:29.238" v="3823" actId="1076"/>
          <ac:picMkLst>
            <pc:docMk/>
            <pc:sldMk cId="3916788613" sldId="296"/>
            <ac:picMk id="3" creationId="{38024FA0-0D7E-7AE6-ED48-99DFCDBAF138}"/>
          </ac:picMkLst>
        </pc:picChg>
        <pc:picChg chg="add mod modCrop">
          <ac:chgData name="SAHIN MONDAL" userId="24ed51a9b0db90ff" providerId="LiveId" clId="{EDC4B98D-1D87-44F2-80EA-3B0C51D841EF}" dt="2026-09-05T14:57:11.125" v="3868" actId="14100"/>
          <ac:picMkLst>
            <pc:docMk/>
            <pc:sldMk cId="3916788613" sldId="296"/>
            <ac:picMk id="8" creationId="{A2FBF7E8-6402-B820-6185-56C7D3F2203C}"/>
          </ac:picMkLst>
        </pc:picChg>
        <pc:picChg chg="add del mod">
          <ac:chgData name="SAHIN MONDAL" userId="24ed51a9b0db90ff" providerId="LiveId" clId="{EDC4B98D-1D87-44F2-80EA-3B0C51D841EF}" dt="2026-09-05T14:51:43.866" v="3712" actId="931"/>
          <ac:picMkLst>
            <pc:docMk/>
            <pc:sldMk cId="3916788613" sldId="296"/>
            <ac:picMk id="13" creationId="{C31AF008-4D45-3B5B-9C2F-8BDAFAC7776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downtoearth.org.in/" TargetMode="External"/><Relationship Id="rId5" Type="http://schemas.openxmlformats.org/officeDocument/2006/relationships/hyperlink" Target="https://pmc.ncbi.nlm.nih.gov/" TargetMode="External"/><Relationship Id="rId6" Type="http://schemas.openxmlformats.org/officeDocument/2006/relationships/hyperlink" Target="https://www.nature.com/" TargetMode="External"/><Relationship Id="rId7" Type="http://schemas.openxmlformats.org/officeDocument/2006/relationships/hyperlink" Target="https://lila.science/" TargetMode="External"/><Relationship Id="rId8" Type="http://schemas.openxmlformats.org/officeDocument/2006/relationships/hyperlink" Target="https://www.amrita.edu/project/elephantwatch-ai-enhanced-elephant-detection-system/" TargetMode="External"/><Relationship Id="rId9" Type="http://schemas.openxmlformats.org/officeDocument/2006/relationships/hyperlink" Target="https://vfaes.org/" TargetMode="External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OUTLIERS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7585" y="27167"/>
            <a:ext cx="9448800" cy="1648688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05502"/>
            <a:ext cx="741233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F497D"/>
                </a:solidFill>
                <a:latin typeface="Arial"/>
              </a:defRPr>
            </a:pPr>
            <a:r>
              <a:t>•  Problem Statement ID – </a:t>
            </a:r>
            <a:r>
              <a:rPr sz="1300" b="1">
                <a:solidFill>
                  <a:srgbClr val="1F497D"/>
                </a:solidFill>
                <a:latin typeface="Arial"/>
              </a:rPr>
              <a:t>SIH26043</a:t>
            </a:r>
            <a:endParaRPr lang="en-US" dirty="0"/>
          </a:p>
          <a:p>
            <a:pPr>
              <a:spcAft>
                <a:spcPts val="400"/>
              </a:spcAft>
              <a:defRPr sz="1350" b="1">
                <a:solidFill>
                  <a:srgbClr val="1F497D"/>
                </a:solidFill>
                <a:latin typeface="Arial"/>
              </a:defRPr>
            </a:pPr>
            <a:r>
              <a:t>•  Problem Statement Title – </a:t>
            </a:r>
            <a:r>
              <a:rPr sz="1300" b="1">
                <a:solidFill>
                  <a:srgbClr val="010000"/>
                </a:solidFill>
                <a:latin typeface="Arial"/>
              </a:rPr>
              <a:t>AI based Elephant attack alert system software</a:t>
            </a:r>
          </a:p>
          <a:p>
            <a:pPr>
              <a:spcAft>
                <a:spcPts val="400"/>
              </a:spcAft>
              <a:defRPr sz="1350" b="1">
                <a:solidFill>
                  <a:srgbClr val="010000"/>
                </a:solidFill>
                <a:latin typeface="Arial"/>
              </a:defRPr>
            </a:pPr>
            <a:r>
              <a:t>•  Theme – </a:t>
            </a:r>
            <a:r>
              <a:rPr sz="1300" b="0">
                <a:solidFill>
                  <a:srgbClr val="334155"/>
                </a:solidFill>
                <a:latin typeface="Arial"/>
              </a:rPr>
              <a:t>Smart Automation / Wildlife Conservation &amp; Disaster Management</a:t>
            </a:r>
          </a:p>
          <a:p>
            <a:pPr>
              <a:spcAft>
                <a:spcPts val="400"/>
              </a:spcAft>
              <a:defRPr sz="1350" b="1">
                <a:solidFill>
                  <a:srgbClr val="010000"/>
                </a:solidFill>
                <a:latin typeface="Arial"/>
              </a:defRPr>
            </a:pPr>
            <a:r>
              <a:t>•  PS Category – </a:t>
            </a:r>
            <a:r>
              <a:rPr sz="1300" b="1">
                <a:solidFill>
                  <a:srgbClr val="010000"/>
                </a:solidFill>
                <a:latin typeface="Arial"/>
              </a:rPr>
              <a:t>Software</a:t>
            </a:r>
          </a:p>
          <a:p>
            <a:pPr>
              <a:spcAft>
                <a:spcPts val="400"/>
              </a:spcAft>
              <a:defRPr sz="1350" b="1">
                <a:solidFill>
                  <a:srgbClr val="1F497D"/>
                </a:solidFill>
                <a:latin typeface="Arial"/>
              </a:defRPr>
            </a:pPr>
            <a:r>
              <a:t>•  Team ID – </a:t>
            </a:r>
            <a:r>
              <a:rPr sz="1300" b="0">
                <a:solidFill>
                  <a:srgbClr val="334155"/>
                </a:solidFill>
                <a:latin typeface="Arial"/>
              </a:rPr>
              <a:t>[KEEP EXISTING VALUE / PLACEHOLDER]</a:t>
            </a:r>
          </a:p>
          <a:p>
            <a:pPr>
              <a:spcAft>
                <a:spcPts val="400"/>
              </a:spcAft>
              <a:defRPr sz="1350" b="1">
                <a:solidFill>
                  <a:srgbClr val="1F497D"/>
                </a:solidFill>
                <a:latin typeface="Arial"/>
              </a:defRPr>
            </a:pPr>
            <a:r>
              <a:t>•  Team Name (Registered on portal) – </a:t>
            </a:r>
            <a:r>
              <a:rPr sz="1300" b="1">
                <a:solidFill>
                  <a:srgbClr val="1F497D"/>
                </a:solidFill>
                <a:latin typeface="Arial"/>
              </a:rPr>
              <a:t>The Outliers</a:t>
            </a:r>
          </a:p>
          <a:p>
            <a:pPr>
              <a:spcAft>
                <a:spcPts val="400"/>
              </a:spcAft>
              <a:defRPr sz="1350" b="1">
                <a:solidFill>
                  <a:srgbClr val="1F497D"/>
                </a:solidFill>
                <a:latin typeface="Arial"/>
              </a:defRPr>
            </a:pPr>
            <a:r>
              <a:t>•  Project Title – </a:t>
            </a:r>
            <a:r>
              <a:rPr sz="1300" b="1">
                <a:solidFill>
                  <a:srgbClr val="064E3B"/>
                </a:solidFill>
                <a:latin typeface="Arial"/>
              </a:rPr>
              <a:t>ELEPHANT GUARD</a:t>
            </a:r>
          </a:p>
          <a:p>
            <a:pPr>
              <a:spcAft>
                <a:spcPts val="400"/>
              </a:spcAft>
              <a:defRPr sz="1350" b="1">
                <a:solidFill>
                  <a:srgbClr val="010000"/>
                </a:solidFill>
                <a:latin typeface="Arial"/>
              </a:defRPr>
            </a:pPr>
            <a:r>
              <a:t>•  Subtitle – </a:t>
            </a:r>
            <a:r>
              <a:rPr sz="1300" b="0">
                <a:solidFill>
                  <a:srgbClr val="334155"/>
                </a:solidFill>
                <a:latin typeface="Arial"/>
              </a:rPr>
              <a:t>Smart Elephant Early Warning &amp; Human-Wildlife Conflict Mitigation System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ElephantGuard AI</a:t>
            </a:r>
            <a:endParaRPr lang="en-US" sz="3600" b="1" u="sng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051560"/>
            <a:ext cx="68580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  <a:defRPr sz="2200" b="1">
                <a:solidFill>
                  <a:srgbClr val="1F497D"/>
                </a:solidFill>
                <a:latin typeface="Arial"/>
              </a:defRPr>
            </a:pPr>
            <a:r>
              <a:t>Proposed Solution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1. AI-BASED EARLY WARNING: </a:t>
            </a:r>
            <a:r>
              <a:rPr sz="900" b="0">
                <a:solidFill>
                  <a:srgbClr val="010000"/>
                </a:solidFill>
                <a:latin typeface="Arial"/>
              </a:rPr>
              <a:t>On-device computer vision detects elephants from live camera feeds and calculates an estimated detection location using device GPS.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2. TEMPORAL VALIDATION: </a:t>
            </a:r>
            <a:r>
              <a:rPr sz="900" b="0">
                <a:solidFill>
                  <a:srgbClr val="010000"/>
                </a:solidFill>
                <a:latin typeface="Arial"/>
              </a:rPr>
              <a:t>Multiple recent detections are validated (3-of-5 queue) before alert escalation, eliminating single-frame false positives.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3. DYNAMIC RISK ASSESSMENT (DMRS): </a:t>
            </a:r>
            <a:r>
              <a:rPr sz="900" b="0">
                <a:solidFill>
                  <a:srgbClr val="010000"/>
                </a:solidFill>
                <a:latin typeface="Arial"/>
              </a:rPr>
              <a:t>Risk is calculated using detection confidence, proximity, movement direction, time-to-collision, time of day and historical hotspot records.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4. PROXIMITY-BASED ALERTS: </a:t>
            </a:r>
            <a:r>
              <a:rPr sz="900" b="0">
                <a:solidFill>
                  <a:srgbClr val="010000"/>
                </a:solidFill>
                <a:latin typeface="Arial"/>
              </a:rPr>
              <a:t>• 0–1 km: Critical → emergency mobile push + audible siren
• 1–2.5 km: High/Warning → strong warning notification
• &gt;2.5 km: Safe buffer monitoring (no emergency siren)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5. FOREST DEPARTMENT RESPONSE: </a:t>
            </a:r>
            <a:r>
              <a:rPr sz="900" b="0">
                <a:solidFill>
                  <a:srgbClr val="010000"/>
                </a:solidFill>
                <a:latin typeface="Arial"/>
              </a:rPr>
              <a:t>Real-time tactical map, live incident feed, and QRT dispatch coordination support rapid field officer intervention.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6. COLLABORATIVE PROBLEM SOLVING: </a:t>
            </a:r>
            <a:r>
              <a:rPr sz="900" b="0">
                <a:solidFill>
                  <a:srgbClr val="010000"/>
                </a:solidFill>
                <a:latin typeface="Arial"/>
              </a:rPr>
              <a:t>Verified corridor incidents can be converted into open challenges for universities and industry partners to propose innovative field solutions.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Outlies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7406640" y="1143000"/>
            <a:ext cx="44348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7452360" y="1188720"/>
            <a:ext cx="4343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F497D"/>
                </a:solidFill>
                <a:latin typeface="Arial"/>
              </a:defRPr>
            </a:pPr>
            <a:r>
              <a:t>END-TO-END COLLABORATIVE WORKFLOW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7543800" y="150876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7543800" y="1508760"/>
            <a:ext cx="22402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CAMERA SENSING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Android CameraX / IR Stream</a:t>
            </a:r>
          </a:p>
        </p:txBody>
      </p:sp>
      <p:sp>
        <p:nvSpPr>
          <p:cNvPr id="15367" name="Down Arrow 15366"/>
          <p:cNvSpPr/>
          <p:nvPr/>
        </p:nvSpPr>
        <p:spPr>
          <a:xfrm>
            <a:off x="8595360" y="1947672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7543800" y="205740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7543800" y="2057400"/>
            <a:ext cx="22402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ON-DEVICE AI DETECTION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EfficientDet-Lite0 TFLite</a:t>
            </a:r>
          </a:p>
        </p:txBody>
      </p:sp>
      <p:sp>
        <p:nvSpPr>
          <p:cNvPr id="15370" name="Down Arrow 15369"/>
          <p:cNvSpPr/>
          <p:nvPr/>
        </p:nvSpPr>
        <p:spPr>
          <a:xfrm>
            <a:off x="8595360" y="2496312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7543800" y="260604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7543800" y="2606040"/>
            <a:ext cx="22402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TEMPORAL VALIDATION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3-of-5 Multi-Frame Filter</a:t>
            </a:r>
          </a:p>
        </p:txBody>
      </p:sp>
      <p:sp>
        <p:nvSpPr>
          <p:cNvPr id="15373" name="Down Arrow 15372"/>
          <p:cNvSpPr/>
          <p:nvPr/>
        </p:nvSpPr>
        <p:spPr>
          <a:xfrm>
            <a:off x="8595360" y="3044952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7543800" y="315468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7543800" y="3154680"/>
            <a:ext cx="22402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GPS + DMRS RISK ENGINE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Distance, Direction &amp; Time</a:t>
            </a:r>
          </a:p>
        </p:txBody>
      </p:sp>
      <p:sp>
        <p:nvSpPr>
          <p:cNvPr id="15376" name="Down Arrow 15375"/>
          <p:cNvSpPr/>
          <p:nvPr/>
        </p:nvSpPr>
        <p:spPr>
          <a:xfrm>
            <a:off x="8595360" y="3593592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7543800" y="370332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7543800" y="3703320"/>
            <a:ext cx="22402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PROXIMITY THREAT LEVEL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Critical (0-1km) | High (1-2.5km)</a:t>
            </a:r>
          </a:p>
        </p:txBody>
      </p:sp>
      <p:sp>
        <p:nvSpPr>
          <p:cNvPr id="15379" name="Down Arrow 15378"/>
          <p:cNvSpPr/>
          <p:nvPr/>
        </p:nvSpPr>
        <p:spPr>
          <a:xfrm>
            <a:off x="8595360" y="4142232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7543800" y="425196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7543800" y="4251960"/>
            <a:ext cx="22402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ALERT &amp; SIREN ENGINE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Local Siren + Multi-Channel Push</a:t>
            </a:r>
          </a:p>
        </p:txBody>
      </p:sp>
      <p:sp>
        <p:nvSpPr>
          <p:cNvPr id="15382" name="Down Arrow 15381"/>
          <p:cNvSpPr/>
          <p:nvPr/>
        </p:nvSpPr>
        <p:spPr>
          <a:xfrm>
            <a:off x="8595360" y="4690872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7543800" y="4800600"/>
            <a:ext cx="2240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7543800" y="4800600"/>
            <a:ext cx="22402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CITIZEN + FOREST DEPT QRT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Rapid Evacuation &amp; Field Response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9921240" y="2057400"/>
            <a:ext cx="178308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9921240" y="2057400"/>
            <a:ext cx="1783080" cy="777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INCIDENT DATA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Historical Analysis</a:t>
            </a:r>
            <a:br/>
            <a:r>
              <a:t>→ High-Risk Zones</a:t>
            </a:r>
          </a:p>
        </p:txBody>
      </p:sp>
      <p:sp>
        <p:nvSpPr>
          <p:cNvPr id="15387" name="Down Arrow 15386"/>
          <p:cNvSpPr/>
          <p:nvPr/>
        </p:nvSpPr>
        <p:spPr>
          <a:xfrm>
            <a:off x="10744200" y="285292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9921240" y="2971800"/>
            <a:ext cx="178308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9921240" y="2971800"/>
            <a:ext cx="1783080" cy="777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VERIFIED INCIDENT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Corridor Hotspot Tagged</a:t>
            </a:r>
            <a:br/>
            <a:r>
              <a:t>→ Open Challenge</a:t>
            </a:r>
          </a:p>
        </p:txBody>
      </p:sp>
      <p:sp>
        <p:nvSpPr>
          <p:cNvPr id="15390" name="Down Arrow 15389"/>
          <p:cNvSpPr/>
          <p:nvPr/>
        </p:nvSpPr>
        <p:spPr>
          <a:xfrm>
            <a:off x="10744200" y="376732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Rounded Rectangle 15390"/>
          <p:cNvSpPr/>
          <p:nvPr/>
        </p:nvSpPr>
        <p:spPr>
          <a:xfrm>
            <a:off x="9921240" y="3886200"/>
            <a:ext cx="178308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TextBox 15391"/>
          <p:cNvSpPr txBox="1"/>
          <p:nvPr/>
        </p:nvSpPr>
        <p:spPr>
          <a:xfrm>
            <a:off x="9921240" y="3886200"/>
            <a:ext cx="1783080" cy="777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UNIVERSITY / INDUSTRY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Academic &amp; Startup</a:t>
            </a:r>
            <a:br/>
            <a:r>
              <a:t>Collaborative Solutions</a:t>
            </a:r>
          </a:p>
        </p:txBody>
      </p:sp>
      <p:sp>
        <p:nvSpPr>
          <p:cNvPr id="15393" name="Down Arrow 15392"/>
          <p:cNvSpPr/>
          <p:nvPr/>
        </p:nvSpPr>
        <p:spPr>
          <a:xfrm>
            <a:off x="10744200" y="468172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Rounded Rectangle 15393"/>
          <p:cNvSpPr/>
          <p:nvPr/>
        </p:nvSpPr>
        <p:spPr>
          <a:xfrm>
            <a:off x="9921240" y="4800600"/>
            <a:ext cx="178308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9921240" y="4800600"/>
            <a:ext cx="1783080" cy="777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PROPOSED SOLUTION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Field Testing &amp; Pilot</a:t>
            </a:r>
            <a:br/>
            <a:r>
              <a:t>Corridor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Outlies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D16719-2373-1FA1-A56F-39D4133E8456}"/>
              </a:ext>
            </a:extLst>
          </p:cNvPr>
          <p:cNvSpPr txBox="1"/>
          <p:nvPr/>
        </p:nvSpPr>
        <p:spPr>
          <a:xfrm>
            <a:off x="365760" y="1051560"/>
            <a:ext cx="6217920" cy="5120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F497D"/>
                </a:solidFill>
                <a:latin typeface="Arial"/>
              </a:defRPr>
            </a:pPr>
            <a:r>
              <a:t>Technology-</a:t>
            </a:r>
          </a:p>
          <a:p>
            <a:pPr>
              <a:spcBef>
                <a:spcPts val="300"/>
              </a:spcBef>
              <a:defRPr sz="1050" b="1">
                <a:solidFill>
                  <a:srgbClr val="1F497D"/>
                </a:solidFill>
                <a:latin typeface="Arial"/>
              </a:defRPr>
            </a:pPr>
            <a:r>
              <a:t>Frontend / Mobile:</a:t>
            </a:r>
          </a:p>
          <a:p>
            <a:pPr>
              <a:defRPr sz="900">
                <a:solidFill>
                  <a:srgbClr val="010000"/>
                </a:solidFill>
                <a:latin typeface="Arial"/>
              </a:defRPr>
            </a:pPr>
            <a:r>
              <a:t>• Android Native (Kotlin 2.0 + Jetpack Compose)</a:t>
            </a:r>
            <a:br/>
            <a:r>
              <a:t>• CameraX API for real-time video stream capture</a:t>
            </a:r>
            <a:br/>
            <a:r>
              <a:t>• OpenStreetMap (osmdroid) for local offline GIS mapping</a:t>
            </a:r>
          </a:p>
          <a:p>
            <a:pPr>
              <a:spcBef>
                <a:spcPts val="300"/>
              </a:spcBef>
              <a:defRPr sz="1050" b="1">
                <a:solidFill>
                  <a:srgbClr val="1F497D"/>
                </a:solidFill>
                <a:latin typeface="Arial"/>
              </a:defRPr>
            </a:pPr>
            <a:r>
              <a:t>AI / ML Pipeline:</a:t>
            </a:r>
          </a:p>
          <a:p>
            <a:pPr>
              <a:defRPr sz="900">
                <a:solidFill>
                  <a:srgbClr val="010000"/>
                </a:solidFill>
                <a:latin typeface="Arial"/>
              </a:defRPr>
            </a:pPr>
            <a:r>
              <a:t>• TensorFlow Lite on-device inference engine</a:t>
            </a:r>
            <a:br/>
            <a:r>
              <a:t>• Quantized EfficientDet-Lite0 object detection model</a:t>
            </a:r>
            <a:br/>
            <a:r>
              <a:t>• Multi-frame temporal validation queue &amp; confidence filter</a:t>
            </a:r>
          </a:p>
          <a:p>
            <a:pPr>
              <a:spcBef>
                <a:spcPts val="300"/>
              </a:spcBef>
              <a:defRPr sz="1050" b="1">
                <a:solidFill>
                  <a:srgbClr val="1F497D"/>
                </a:solidFill>
                <a:latin typeface="Arial"/>
              </a:defRPr>
            </a:pPr>
            <a:r>
              <a:t>Backend Architecture:</a:t>
            </a:r>
          </a:p>
          <a:p>
            <a:pPr>
              <a:defRPr sz="900">
                <a:solidFill>
                  <a:srgbClr val="010000"/>
                </a:solidFill>
                <a:latin typeface="Arial"/>
              </a:defRPr>
            </a:pPr>
            <a:r>
              <a:t>• FastAPI (Python 3.11) high-throughput asynchronous server</a:t>
            </a:r>
            <a:br/>
            <a:r>
              <a:t>• RESTful API endpoints for telemetry and incident intake</a:t>
            </a:r>
            <a:br/>
            <a:r>
              <a:t>• WebSocket &amp; SSE event bus for real-time alert streaming</a:t>
            </a:r>
          </a:p>
          <a:p>
            <a:pPr>
              <a:spcBef>
                <a:spcPts val="300"/>
              </a:spcBef>
              <a:defRPr sz="1050" b="1">
                <a:solidFill>
                  <a:srgbClr val="1F497D"/>
                </a:solidFill>
                <a:latin typeface="Arial"/>
              </a:defRPr>
            </a:pPr>
            <a:r>
              <a:t>API &amp; Synchronization:</a:t>
            </a:r>
          </a:p>
          <a:p>
            <a:pPr>
              <a:defRPr sz="900">
                <a:solidFill>
                  <a:srgbClr val="010000"/>
                </a:solidFill>
                <a:latin typeface="Arial"/>
              </a:defRPr>
            </a:pPr>
            <a:r>
              <a:t>• Telemetry reporting &amp; incident/alert synchronization</a:t>
            </a:r>
            <a:br/>
            <a:r>
              <a:t>• Bi-directional sync (Android ↔ Backend ↔ Admin Dashboard)</a:t>
            </a:r>
            <a:br/>
            <a:r>
              <a:t>• Offline queue with automated background sync via WorkManager</a:t>
            </a:r>
          </a:p>
          <a:p>
            <a:pPr>
              <a:spcBef>
                <a:spcPts val="300"/>
              </a:spcBef>
              <a:defRPr sz="1050" b="1">
                <a:solidFill>
                  <a:srgbClr val="1F497D"/>
                </a:solidFill>
                <a:latin typeface="Arial"/>
              </a:defRPr>
            </a:pPr>
            <a:r>
              <a:t>Database &amp; Governance:</a:t>
            </a:r>
          </a:p>
          <a:p>
            <a:pPr>
              <a:defRPr sz="900">
                <a:solidFill>
                  <a:srgbClr val="010000"/>
                </a:solidFill>
                <a:latin typeface="Arial"/>
              </a:defRPr>
            </a:pPr>
            <a:r>
              <a:t>• SQLite / Relational database for prototype backend</a:t>
            </a:r>
            <a:br/>
            <a:r>
              <a:t>• Tables: Users, Incidents, Alerts, Challenges, Solutions, Audit Logs</a:t>
            </a:r>
            <a:br/>
            <a:r>
              <a:t>• Parameterized queries and role-based access control (RBAC)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6766560" y="1143000"/>
            <a:ext cx="50292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6812280" y="11887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F497D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680960" y="1508760"/>
            <a:ext cx="32004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680960" y="1508760"/>
            <a:ext cx="32004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ANDROID PATROL APP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Kotlin + Compose  |  CameraX + GPS Location</a:t>
            </a:r>
          </a:p>
        </p:txBody>
      </p:sp>
      <p:sp>
        <p:nvSpPr>
          <p:cNvPr id="17414" name="Down Arrow 17413"/>
          <p:cNvSpPr/>
          <p:nvPr/>
        </p:nvSpPr>
        <p:spPr>
          <a:xfrm>
            <a:off x="9189720" y="212140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7680960" y="2240280"/>
            <a:ext cx="3200400" cy="594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680960" y="2240280"/>
            <a:ext cx="32004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ON-DEVICE AI INFERENCE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EfficientDet-Lite0 TFLite  |  Elephant Detection</a:t>
            </a:r>
          </a:p>
        </p:txBody>
      </p:sp>
      <p:sp>
        <p:nvSpPr>
          <p:cNvPr id="17417" name="Down Arrow 17416"/>
          <p:cNvSpPr/>
          <p:nvPr/>
        </p:nvSpPr>
        <p:spPr>
          <a:xfrm>
            <a:off x="9189720" y="285292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7680960" y="2971800"/>
            <a:ext cx="320040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7680960" y="2971800"/>
            <a:ext cx="32004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VALIDATION + DMRS RISK ENGINE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Confidence + Distance  |  Movement + Historical Risk</a:t>
            </a:r>
          </a:p>
        </p:txBody>
      </p:sp>
      <p:sp>
        <p:nvSpPr>
          <p:cNvPr id="17420" name="Down Arrow 17419"/>
          <p:cNvSpPr/>
          <p:nvPr/>
        </p:nvSpPr>
        <p:spPr>
          <a:xfrm>
            <a:off x="9189720" y="358444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949440" y="3703320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949440" y="3703320"/>
            <a:ext cx="21945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C00000"/>
                </a:solidFill>
                <a:latin typeface="Arial"/>
              </a:defRPr>
            </a:pPr>
            <a:r>
              <a:t>ALERT ENGINE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Audible Siren / Notifications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418320" y="3703320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9418320" y="3703320"/>
            <a:ext cx="219456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REAL-TIME MAP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GPS Markers + Hazard Zones</a:t>
            </a:r>
          </a:p>
        </p:txBody>
      </p:sp>
      <p:sp>
        <p:nvSpPr>
          <p:cNvPr id="17425" name="Down Arrow 17424"/>
          <p:cNvSpPr/>
          <p:nvPr/>
        </p:nvSpPr>
        <p:spPr>
          <a:xfrm>
            <a:off x="8001000" y="422452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Down Arrow 17425"/>
          <p:cNvSpPr/>
          <p:nvPr/>
        </p:nvSpPr>
        <p:spPr>
          <a:xfrm>
            <a:off x="10469880" y="422452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7680960" y="4343400"/>
            <a:ext cx="320040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7680960" y="4343400"/>
            <a:ext cx="3200400" cy="777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FASTAPI BACKEND &amp; RELATIONAL DB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REST APIs  |  SQLite Database</a:t>
            </a:r>
            <a:br/>
            <a:r>
              <a:t>Users / Incidents / Alerts / Challenges / Logs</a:t>
            </a:r>
          </a:p>
        </p:txBody>
      </p:sp>
      <p:sp>
        <p:nvSpPr>
          <p:cNvPr id="17429" name="Down Arrow 17428"/>
          <p:cNvSpPr/>
          <p:nvPr/>
        </p:nvSpPr>
        <p:spPr>
          <a:xfrm>
            <a:off x="9189720" y="5138928"/>
            <a:ext cx="137160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7680960" y="5257800"/>
            <a:ext cx="3200400" cy="594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680960" y="5257800"/>
            <a:ext cx="32004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ADMIN / FOREST DEPT WEB DASHBOARD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Command GIS  |  QRT Dispatch  |  SIH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7285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Outlies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51560"/>
            <a:ext cx="557784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43000"/>
            <a:ext cx="5303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F497D"/>
                </a:solidFill>
                <a:latin typeface="Arial"/>
              </a:defRPr>
            </a:pPr>
            <a:r>
              <a:t>Feasibility-</a:t>
            </a:r>
          </a:p>
          <a:p>
            <a:pPr>
              <a:spcBef>
                <a:spcPts val="200"/>
              </a:spcBef>
              <a:defRPr sz="950" b="1">
                <a:solidFill>
                  <a:srgbClr val="1F497D"/>
                </a:solidFill>
                <a:latin typeface="Arial"/>
              </a:defRPr>
            </a:pPr>
            <a:r>
              <a:t>Technical Feasibility: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On-device lightweight AI reduces dependence on continuous cloud inference.</a:t>
            </a:r>
            <a:br/>
            <a:r>
              <a:t>• Smartphone camera + GPS provide the primary sensing layer.</a:t>
            </a:r>
            <a:br/>
            <a:r>
              <a:t>• FastAPI provides a lightweight central integration layer.</a:t>
            </a:r>
            <a:br/>
            <a:r>
              <a:t>• Existing camera/telecom infrastructure can complement mobile nodes.</a:t>
            </a:r>
          </a:p>
          <a:p>
            <a:pPr>
              <a:spcBef>
                <a:spcPts val="200"/>
              </a:spcBef>
              <a:defRPr sz="950" b="1">
                <a:solidFill>
                  <a:srgbClr val="1F497D"/>
                </a:solidFill>
                <a:latin typeface="Arial"/>
              </a:defRPr>
            </a:pPr>
            <a:r>
              <a:t>Operational Feasibility: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Designed for forest-fringe and low-connectivity environments.</a:t>
            </a:r>
            <a:br/>
            <a:r>
              <a:t>• Multi-channel warning architecture (app, siren, SMS) ensures wide reach.</a:t>
            </a:r>
            <a:br/>
            <a:r>
              <a:t>• Forest Department dashboard supports centralized monitoring.</a:t>
            </a:r>
            <a:br/>
            <a:r>
              <a:t>• Pilot deployment can begin in selected high-risk zones (Dalma NH-33).</a:t>
            </a:r>
          </a:p>
          <a:p>
            <a:pPr>
              <a:spcBef>
                <a:spcPts val="200"/>
              </a:spcBef>
              <a:defRPr sz="950" b="1">
                <a:solidFill>
                  <a:srgbClr val="1F497D"/>
                </a:solidFill>
                <a:latin typeface="Arial"/>
              </a:defRPr>
            </a:pPr>
            <a:r>
              <a:t>Economic Feasibility: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Built on open-source software frameworks with zero licensing fees.</a:t>
            </a:r>
            <a:br/>
            <a:r>
              <a:t>• Uses commodity smartphones instead of specialized military hardware.</a:t>
            </a:r>
            <a:br/>
            <a:r>
              <a:t>• Existing infrastructure can be reused where available.</a:t>
            </a:r>
            <a:br/>
            <a:r>
              <a:t>• Modular architecture allows phased, cost-effective rollout.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72200" y="1051560"/>
            <a:ext cx="56235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309360" y="1143000"/>
            <a:ext cx="5349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64E3B"/>
                </a:solidFill>
                <a:latin typeface="Arial"/>
              </a:defRPr>
            </a:pPr>
            <a:r>
              <a:t>Viability-</a:t>
            </a:r>
          </a:p>
          <a:p>
            <a:pPr>
              <a:spcBef>
                <a:spcPts val="400"/>
              </a:spcBef>
              <a:defRPr sz="1000" b="1">
                <a:solidFill>
                  <a:srgbClr val="064E3B"/>
                </a:solidFill>
                <a:latin typeface="Arial"/>
              </a:defRPr>
            </a:pPr>
            <a:r>
              <a:t>Social Viability:</a:t>
            </a:r>
          </a:p>
          <a:p>
            <a:pPr>
              <a:defRPr sz="850">
                <a:solidFill>
                  <a:srgbClr val="010000"/>
                </a:solidFill>
                <a:latin typeface="Arial"/>
              </a:defRPr>
            </a:pPr>
            <a:r>
              <a:t>• Early warnings reduce human-elephant encounters, protecting lives and crops.</a:t>
            </a:r>
            <a:br/>
            <a:r>
              <a:t>• Connects local communities with Forest Department response teams.</a:t>
            </a:r>
            <a:br/>
            <a:r>
              <a:t>• Builds trust through transparent, shared incident data and alerts.</a:t>
            </a:r>
          </a:p>
          <a:p>
            <a:pPr>
              <a:spcBef>
                <a:spcPts val="400"/>
              </a:spcBef>
              <a:defRPr sz="1000" b="1">
                <a:solidFill>
                  <a:srgbClr val="064E3B"/>
                </a:solidFill>
                <a:latin typeface="Arial"/>
              </a:defRPr>
            </a:pPr>
            <a:r>
              <a:t>Environmental Viability:</a:t>
            </a:r>
          </a:p>
          <a:p>
            <a:pPr>
              <a:defRPr sz="850">
                <a:solidFill>
                  <a:srgbClr val="010000"/>
                </a:solidFill>
                <a:latin typeface="Arial"/>
              </a:defRPr>
            </a:pPr>
            <a:r>
              <a:t>• Non-invasive camera monitoring does not disturb natural elephant movement.</a:t>
            </a:r>
            <a:br/>
            <a:r>
              <a:t>• Helps eliminate retaliatory killings, poisonings, and electrocutions.</a:t>
            </a:r>
            <a:br/>
            <a:r>
              <a:t>• Historical conflict data directly supports long-term conservation planning.</a:t>
            </a:r>
            <a:br/>
            <a:r>
              <a:t>• Contributes to India's national wildlife conservation commitments (Project Elephant).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5074920"/>
            <a:ext cx="11430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510235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F497D"/>
                </a:solidFill>
                <a:latin typeface="Arial"/>
              </a:defRPr>
            </a:pPr>
            <a:r>
              <a:t>KEY CHALLENGES &amp; ENGINEERED MITIGATION STRATEGIES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5349240"/>
            <a:ext cx="2697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548640" y="5376672"/>
            <a:ext cx="26060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C00000"/>
                </a:solidFill>
                <a:latin typeface="Arial"/>
              </a:defRPr>
            </a:pPr>
            <a:r>
              <a:t>⚠ Detection Uncertainty</a:t>
            </a:r>
          </a:p>
          <a:p>
            <a:pPr>
              <a:spcBef>
                <a:spcPts val="200"/>
              </a:spcBef>
              <a:defRPr sz="750">
                <a:solidFill>
                  <a:srgbClr val="1F497D"/>
                </a:solidFill>
                <a:latin typeface="Arial"/>
              </a:defRPr>
            </a:pPr>
            <a:r>
              <a:t>→ Temporal validation (3-of-5 queue) + confidence thresholding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39" y="5349240"/>
            <a:ext cx="2697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337560" y="5376672"/>
            <a:ext cx="26060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C00000"/>
                </a:solidFill>
                <a:latin typeface="Arial"/>
              </a:defRPr>
            </a:pPr>
            <a:r>
              <a:t>⚠ Camera Coverage Gaps</a:t>
            </a:r>
          </a:p>
          <a:p>
            <a:pPr>
              <a:spcBef>
                <a:spcPts val="200"/>
              </a:spcBef>
              <a:defRPr sz="750">
                <a:solidFill>
                  <a:srgbClr val="1F497D"/>
                </a:solidFill>
                <a:latin typeface="Arial"/>
              </a:defRPr>
            </a:pPr>
            <a:r>
              <a:t>→ Mobile sensing units + integration with existing infrastructure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080759" y="5349240"/>
            <a:ext cx="2697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126479" y="5376672"/>
            <a:ext cx="26060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C00000"/>
                </a:solidFill>
                <a:latin typeface="Arial"/>
              </a:defRPr>
            </a:pPr>
            <a:r>
              <a:t>⚠ Spam / Fake Reports</a:t>
            </a:r>
          </a:p>
          <a:p>
            <a:pPr>
              <a:spcBef>
                <a:spcPts val="200"/>
              </a:spcBef>
              <a:defRPr sz="750">
                <a:solidFill>
                  <a:srgbClr val="1F497D"/>
                </a:solidFill>
                <a:latin typeface="Arial"/>
              </a:defRPr>
            </a:pPr>
            <a:r>
              <a:t>→ Incident verification + AI media checking + user trust scoring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869680" y="5349240"/>
            <a:ext cx="269748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915399" y="5376672"/>
            <a:ext cx="26060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C00000"/>
                </a:solidFill>
                <a:latin typeface="Arial"/>
              </a:defRPr>
            </a:pPr>
            <a:r>
              <a:t>⚠ Network Blackouts</a:t>
            </a:r>
          </a:p>
          <a:p>
            <a:pPr>
              <a:spcBef>
                <a:spcPts val="200"/>
              </a:spcBef>
              <a:defRPr sz="750">
                <a:solidFill>
                  <a:srgbClr val="1F497D"/>
                </a:solidFill>
                <a:latin typeface="Arial"/>
              </a:defRPr>
            </a:pPr>
            <a:r>
              <a:t>→ On-device edge AI inference + offline-first sync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Outlies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CA354C-9DCA-FE41-443C-AE4333A1273C}"/>
              </a:ext>
            </a:extLst>
          </p:cNvPr>
          <p:cNvSpPr txBox="1"/>
          <p:nvPr/>
        </p:nvSpPr>
        <p:spPr>
          <a:xfrm>
            <a:off x="365760" y="1051560"/>
            <a:ext cx="5852160" cy="5120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  <a:defRPr sz="2000" b="1">
                <a:solidFill>
                  <a:srgbClr val="1F497D"/>
                </a:solidFill>
                <a:latin typeface="Arial"/>
              </a:defRPr>
            </a:pPr>
            <a:r>
              <a:t>Benefits-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Social Benefits: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Faster early warning for communities in elephant-prone corridors.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Reduced risk of human casualties, injuries, and surprise encounters.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Protects crops and rural property from devastating nocturnal raids.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Accessible warning via multiple channels (app, audible siren, SMS).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Strengthened coordination between citizens and Forest Department.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Technical Benefits: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Demonstrates practical real-world edge AI vision for wildlife safety.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Combines on-device AI, GPS proximity, risk scoring, and GIS mapping.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Centralized incident and alert management with audit logging.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Reusable framework adaptable to other conflicts (tigers, leopards, boars).</a:t>
            </a:r>
          </a:p>
          <a:p>
            <a:pPr>
              <a:spcBef>
                <a:spcPts val="300"/>
              </a:spcBef>
              <a:defRPr sz="1000" b="1">
                <a:solidFill>
                  <a:srgbClr val="1F497D"/>
                </a:solidFill>
                <a:latin typeface="Arial"/>
              </a:defRPr>
            </a:pPr>
            <a:r>
              <a:t>Environmental Benefits: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Supports non-invasive wildlife monitoring without disturbing natural movement.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Helps prevent retaliatory elephant killing, electrocution, and poisoning.</a:t>
            </a:r>
          </a:p>
          <a:p>
            <a:pPr>
              <a:defRPr sz="800">
                <a:solidFill>
                  <a:srgbClr val="010000"/>
                </a:solidFill>
                <a:latin typeface="Arial"/>
              </a:defRPr>
            </a:pPr>
            <a:r>
              <a:t>• Provides historical data for corridor identification and conservation planning.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9FA70A-B758-C96D-8961-23865205FA7A}"/>
              </a:ext>
            </a:extLst>
          </p:cNvPr>
          <p:cNvSpPr txBox="1"/>
          <p:nvPr/>
        </p:nvSpPr>
        <p:spPr>
          <a:xfrm>
            <a:off x="6400800" y="1051560"/>
            <a:ext cx="5394960" cy="5120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Ø"/>
              <a:defRPr sz="2000" b="1">
                <a:solidFill>
                  <a:srgbClr val="1F497D"/>
                </a:solidFill>
                <a:latin typeface="Arial"/>
              </a:defRPr>
            </a:pPr>
            <a:r>
              <a:t>Potential Impact-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6400800" y="1508760"/>
            <a:ext cx="539496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6492240" y="15544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497D"/>
                </a:solidFill>
                <a:latin typeface="Arial"/>
              </a:defRPr>
            </a:pPr>
            <a:r>
              <a:t>1. IMPACT &amp; INTERVENTION PIPELINE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537960" y="1874519"/>
            <a:ext cx="960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537960" y="1874519"/>
            <a:ext cx="9601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EARLY DETECTION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7516368" y="2011680"/>
            <a:ext cx="73152" cy="137160"/>
          </a:xfrm>
          <a:prstGeom prst="rightArrow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7562088" y="1874519"/>
            <a:ext cx="960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562088" y="1874519"/>
            <a:ext cx="9601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EARLY WARNING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8540496" y="2011680"/>
            <a:ext cx="73152" cy="137160"/>
          </a:xfrm>
          <a:prstGeom prst="rightArrow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8586216" y="1874519"/>
            <a:ext cx="960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586216" y="1874519"/>
            <a:ext cx="9601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FASTER RESPONSE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9564624" y="2011680"/>
            <a:ext cx="73152" cy="137160"/>
          </a:xfrm>
          <a:prstGeom prst="rightArrow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9610344" y="1874519"/>
            <a:ext cx="960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9610344" y="1874519"/>
            <a:ext cx="9601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LOWER CONFLICT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10588752" y="2011680"/>
            <a:ext cx="73152" cy="137160"/>
          </a:xfrm>
          <a:prstGeom prst="rightArrow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10634472" y="1874519"/>
            <a:ext cx="960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10634472" y="1874519"/>
            <a:ext cx="96012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064E3B"/>
                </a:solidFill>
                <a:latin typeface="Arial"/>
              </a:defRPr>
            </a:pPr>
            <a:r>
              <a:t>CONSERVATION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92240" y="251460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497D"/>
                </a:solidFill>
                <a:latin typeface="Arial"/>
              </a:defRPr>
            </a:pPr>
            <a:r>
              <a:t>2. SIH COLLABORATIVE PROBLEM-SOLVING CYCLE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675120" y="2834640"/>
            <a:ext cx="4846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675120" y="2834640"/>
            <a:ext cx="4846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1. CITIZEN / CAMERA REPORT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Sighting detected &amp; geo-tagged</a:t>
            </a:r>
          </a:p>
        </p:txBody>
      </p:sp>
      <p:sp>
        <p:nvSpPr>
          <p:cNvPr id="17429" name="Down Arrow 17428"/>
          <p:cNvSpPr/>
          <p:nvPr/>
        </p:nvSpPr>
        <p:spPr>
          <a:xfrm>
            <a:off x="9006840" y="3337560"/>
            <a:ext cx="109728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675120" y="3456432"/>
            <a:ext cx="4846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675120" y="3456432"/>
            <a:ext cx="4846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2. INCIDENT VERIFICATION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Forest Dept validates threat</a:t>
            </a:r>
          </a:p>
        </p:txBody>
      </p:sp>
      <p:sp>
        <p:nvSpPr>
          <p:cNvPr id="17432" name="Down Arrow 17431"/>
          <p:cNvSpPr/>
          <p:nvPr/>
        </p:nvSpPr>
        <p:spPr>
          <a:xfrm>
            <a:off x="9006840" y="3959352"/>
            <a:ext cx="109728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6675120" y="4078224"/>
            <a:ext cx="4846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6675120" y="4078224"/>
            <a:ext cx="4846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3. CROWDSOURCED CHALLENGE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Recurring hotspot published</a:t>
            </a:r>
          </a:p>
        </p:txBody>
      </p:sp>
      <p:sp>
        <p:nvSpPr>
          <p:cNvPr id="17435" name="Down Arrow 17434"/>
          <p:cNvSpPr/>
          <p:nvPr/>
        </p:nvSpPr>
        <p:spPr>
          <a:xfrm>
            <a:off x="9006840" y="4581144"/>
            <a:ext cx="109728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6675120" y="4700016"/>
            <a:ext cx="4846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675120" y="4700016"/>
            <a:ext cx="4846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4. UNIVERSITY / INDUSTRY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IITs, NITs &amp; startups propose fixes</a:t>
            </a:r>
          </a:p>
        </p:txBody>
      </p:sp>
      <p:sp>
        <p:nvSpPr>
          <p:cNvPr id="17438" name="Down Arrow 17437"/>
          <p:cNvSpPr/>
          <p:nvPr/>
        </p:nvSpPr>
        <p:spPr>
          <a:xfrm>
            <a:off x="9006840" y="5202936"/>
            <a:ext cx="109728" cy="91440"/>
          </a:xfrm>
          <a:prstGeom prst="down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6675120" y="5321808"/>
            <a:ext cx="48463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675120" y="5321808"/>
            <a:ext cx="48463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850" b="1">
                <a:solidFill>
                  <a:srgbClr val="1F497D"/>
                </a:solidFill>
                <a:latin typeface="Arial"/>
              </a:defRPr>
            </a:pPr>
            <a:r>
              <a:t>5. FIELD TESTING &amp; SOLUTION</a:t>
            </a:r>
          </a:p>
          <a:p>
            <a:pPr algn="ctr">
              <a:defRPr sz="700">
                <a:solidFill>
                  <a:srgbClr val="334155"/>
                </a:solidFill>
                <a:latin typeface="Arial"/>
              </a:defRPr>
            </a:pPr>
            <a:r>
              <a:t>Pilot deployment &amp; conflict resolution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Outlies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F70871-95B8-A4DE-6A62-F7B77FDEAA27}"/>
              </a:ext>
            </a:extLst>
          </p:cNvPr>
          <p:cNvSpPr txBox="1"/>
          <p:nvPr/>
        </p:nvSpPr>
        <p:spPr>
          <a:xfrm>
            <a:off x="365760" y="1051560"/>
            <a:ext cx="4389120" cy="5120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q"/>
              <a:defRPr sz="1800" b="1">
                <a:solidFill>
                  <a:srgbClr val="1F497D"/>
                </a:solidFill>
                <a:latin typeface="Arial"/>
              </a:defRPr>
            </a:pPr>
            <a:r>
              <a:t>Research &amp; References: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00"/>
              </a:spcBef>
              <a:defRPr sz="850" b="1">
                <a:solidFill>
                  <a:srgbClr val="1F497D"/>
                </a:solidFill>
                <a:latin typeface="Arial"/>
              </a:defRPr>
            </a:pPr>
            <a:r>
              <a:t>• Down To Earth: </a:t>
            </a:r>
            <a:r>
              <a:rPr sz="800" b="0">
                <a:solidFill>
                  <a:srgbClr val="010000"/>
                </a:solidFill>
                <a:latin typeface="Arial"/>
              </a:rPr>
              <a:t>State of India's Environment (human-wildlife conflict trends)</a:t>
            </a:r>
          </a:p>
          <a:p>
            <a:pPr>
              <a:spcBef>
                <a:spcPts val="200"/>
              </a:spcBef>
              <a:defRPr sz="850" b="1">
                <a:solidFill>
                  <a:srgbClr val="1F497D"/>
                </a:solidFill>
                <a:latin typeface="Arial"/>
              </a:defRPr>
            </a:pPr>
            <a:r>
              <a:t>• PMC / PubMed Central: </a:t>
            </a:r>
            <a:r>
              <a:rPr sz="800" b="0">
                <a:solidFill>
                  <a:srgbClr val="010000"/>
                </a:solidFill>
                <a:latin typeface="Arial"/>
              </a:rPr>
              <a:t>Human-elephant conflict studies (Jharkhand &amp; Chhattisgarh)</a:t>
            </a:r>
          </a:p>
          <a:p>
            <a:pPr>
              <a:spcBef>
                <a:spcPts val="200"/>
              </a:spcBef>
              <a:defRPr sz="850" b="1">
                <a:solidFill>
                  <a:srgbClr val="1F497D"/>
                </a:solidFill>
                <a:latin typeface="Arial"/>
              </a:defRPr>
            </a:pPr>
            <a:r>
              <a:t>• Nature (Scientific Reports): </a:t>
            </a:r>
            <a:r>
              <a:rPr sz="800" b="0">
                <a:solidFill>
                  <a:srgbClr val="010000"/>
                </a:solidFill>
                <a:latin typeface="Arial"/>
              </a:rPr>
              <a:t>Fatality trends &amp; mitigation strategies in corridor belts</a:t>
            </a:r>
          </a:p>
          <a:p>
            <a:pPr>
              <a:spcBef>
                <a:spcPts val="200"/>
              </a:spcBef>
              <a:defRPr sz="850" b="1">
                <a:solidFill>
                  <a:srgbClr val="1F497D"/>
                </a:solidFill>
                <a:latin typeface="Arial"/>
              </a:defRPr>
            </a:pPr>
            <a:r>
              <a:t>• LILA BC: </a:t>
            </a:r>
            <a:r>
              <a:rPr sz="800" b="0">
                <a:solidFill>
                  <a:srgbClr val="010000"/>
                </a:solidFill>
                <a:latin typeface="Arial"/>
              </a:rPr>
              <a:t>Open wildlife camera-trap image &amp; benchmark datasets</a:t>
            </a:r>
          </a:p>
          <a:p>
            <a:pPr>
              <a:spcBef>
                <a:spcPts val="600"/>
              </a:spcBef>
              <a:defRPr sz="1050" b="1">
                <a:solidFill>
                  <a:srgbClr val="1F497D"/>
                </a:solidFill>
                <a:latin typeface="Arial"/>
              </a:defRPr>
            </a:pPr>
            <a:r>
              <a:t>Existing AI / Wildlife Platforms:</a:t>
            </a:r>
          </a:p>
          <a:p>
            <a:pPr>
              <a:spcBef>
                <a:spcPts val="200"/>
              </a:spcBef>
              <a:defRPr sz="850" b="1">
                <a:solidFill>
                  <a:srgbClr val="064E3B"/>
                </a:solidFill>
                <a:latin typeface="Arial"/>
              </a:defRPr>
            </a:pPr>
            <a:r>
              <a:t>• ElephantWatch (Amrita Univ): </a:t>
            </a:r>
            <a:r>
              <a:rPr sz="800" b="0">
                <a:solidFill>
                  <a:srgbClr val="010000"/>
                </a:solidFill>
                <a:latin typeface="Arial"/>
              </a:rPr>
              <a:t>AI-enhanced elephant detection system</a:t>
            </a:r>
          </a:p>
          <a:p>
            <a:pPr>
              <a:spcBef>
                <a:spcPts val="200"/>
              </a:spcBef>
              <a:defRPr sz="850" b="1">
                <a:solidFill>
                  <a:srgbClr val="064E3B"/>
                </a:solidFill>
                <a:latin typeface="Arial"/>
              </a:defRPr>
            </a:pPr>
            <a:r>
              <a:t>• EleSense (VFAES): </a:t>
            </a:r>
            <a:r>
              <a:rPr sz="800" b="0">
                <a:solidFill>
                  <a:srgbClr val="010000"/>
                </a:solidFill>
                <a:latin typeface="Arial"/>
              </a:rPr>
              <a:t>Sensor-based elephant corridor warning system</a:t>
            </a:r>
          </a:p>
          <a:p>
            <a:pPr>
              <a:spcBef>
                <a:spcPts val="200"/>
              </a:spcBef>
              <a:defRPr sz="850" b="1">
                <a:solidFill>
                  <a:srgbClr val="064E3B"/>
                </a:solidFill>
                <a:latin typeface="Arial"/>
              </a:defRPr>
            </a:pPr>
            <a:r>
              <a:t>• MegaDetector (Microsoft AI for Earth): </a:t>
            </a:r>
            <a:r>
              <a:rPr sz="800" b="0">
                <a:solidFill>
                  <a:srgbClr val="010000"/>
                </a:solidFill>
                <a:latin typeface="Arial"/>
              </a:rPr>
              <a:t>Open-source wildlife detection model</a:t>
            </a:r>
          </a:p>
        </p:txBody>
      </p:sp>
      <p:sp>
        <p:nvSpPr>
          <p:cNvPr id="17410" name="TextBox 17409"/>
          <p:cNvSpPr txBox="1"/>
          <p:nvPr/>
        </p:nvSpPr>
        <p:spPr>
          <a:xfrm>
            <a:off x="4937760" y="10515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97D"/>
                </a:solidFill>
                <a:latin typeface="Arial"/>
              </a:defRPr>
            </a:pPr>
            <a:r>
              <a:t>Competitive Analysis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937760" y="141732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43000"/>
                <a:gridCol w="1143000"/>
                <a:gridCol w="1143000"/>
                <a:gridCol w="1325880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Parameter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ElephantWatch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EleSense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Public Cameras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ELEPHANT GUARD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Real-time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✓ (Server)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✓ (Sensor)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(On-Device AI)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Risk-zone assessment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(Basic)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(Track)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(None)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(DMRS Engine)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Temporal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(Single)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(Threshold)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(None)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(3-of-5 Queue)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Proximity alerting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(General)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✓ (Local)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(None)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(0-1km / 1-2.5km)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Forest Dept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✓ (Monitor)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(Hardware)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(Feed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(Full Web GIS)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Crowdsourced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(Sensor)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(Sensor)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(None)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(Citizen + QRT)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University / Industry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(Internal)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(NGO)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(None)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(SIH Challenge)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Scalable to other wildlife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(Elephant)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— (Elephant)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010000"/>
                          </a:solidFill>
                          <a:latin typeface="Arial"/>
                        </a:defRPr>
                      </a:pPr>
                      <a:r>
                        <a:t>✓ (Manual)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064E3B"/>
                          </a:solidFill>
                          <a:latin typeface="Arial"/>
                        </a:defRPr>
                      </a:pPr>
                      <a:r>
                        <a:t>✓ (Modular)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7953</TotalTime>
  <Words>859</Words>
  <Application>Microsoft Office PowerPoint</Application>
  <PresentationFormat>Widescreen</PresentationFormat>
  <Paragraphs>119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ElephantGuard AI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SAHIN MONDAL</cp:lastModifiedBy>
  <cp:revision>149</cp:revision>
  <dcterms:created xsi:type="dcterms:W3CDTF">2013-12-12T18:46:50Z</dcterms:created>
  <dcterms:modified xsi:type="dcterms:W3CDTF">2026-09-05T14:58:10Z</dcterms:modified>
  <cp:category/>
</cp:coreProperties>
</file>